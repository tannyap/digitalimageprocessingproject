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Grand Cru M" charset="1" panose="00000500000000000000"/>
      <p:regular r:id="rId17"/>
    </p:embeddedFont>
    <p:embeddedFont>
      <p:font typeface="Grand Cru M Bold" charset="1" panose="0000080000000000000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5.png" Type="http://schemas.openxmlformats.org/officeDocument/2006/relationships/image"/><Relationship Id="rId17" Target="../media/image16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5.png" Type="http://schemas.openxmlformats.org/officeDocument/2006/relationships/image"/><Relationship Id="rId17" Target="../media/image16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5.png" Type="http://schemas.openxmlformats.org/officeDocument/2006/relationships/image"/><Relationship Id="rId17" Target="../media/image16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5.png" Type="http://schemas.openxmlformats.org/officeDocument/2006/relationships/image"/><Relationship Id="rId17" Target="../media/image16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5.png" Type="http://schemas.openxmlformats.org/officeDocument/2006/relationships/image"/><Relationship Id="rId17" Target="../media/image16.svg" Type="http://schemas.openxmlformats.org/officeDocument/2006/relationships/image"/><Relationship Id="rId18" Target="../media/image17.png" Type="http://schemas.openxmlformats.org/officeDocument/2006/relationships/image"/><Relationship Id="rId19" Target="../media/image18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5.png" Type="http://schemas.openxmlformats.org/officeDocument/2006/relationships/image"/><Relationship Id="rId17" Target="../media/image16.svg" Type="http://schemas.openxmlformats.org/officeDocument/2006/relationships/image"/><Relationship Id="rId18" Target="../media/image19.png" Type="http://schemas.openxmlformats.org/officeDocument/2006/relationships/image"/><Relationship Id="rId19" Target="../embeddings/oleObject1.bin" Type="http://schemas.openxmlformats.org/officeDocument/2006/relationships/oleObjec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20.png" Type="http://schemas.openxmlformats.org/officeDocument/2006/relationships/image"/><Relationship Id="rId17" Target="../media/image21.png" Type="http://schemas.openxmlformats.org/officeDocument/2006/relationships/image"/><Relationship Id="rId18" Target="../media/image22.png" Type="http://schemas.openxmlformats.org/officeDocument/2006/relationships/image"/><Relationship Id="rId19" Target="../media/image23.png" Type="http://schemas.openxmlformats.org/officeDocument/2006/relationships/image"/><Relationship Id="rId2" Target="../media/image1.png" Type="http://schemas.openxmlformats.org/officeDocument/2006/relationships/image"/><Relationship Id="rId20" Target="../media/image24.png" Type="http://schemas.openxmlformats.org/officeDocument/2006/relationships/image"/><Relationship Id="rId21" Target="../media/image25.png" Type="http://schemas.openxmlformats.org/officeDocument/2006/relationships/image"/><Relationship Id="rId22" Target="../media/image26.png" Type="http://schemas.openxmlformats.org/officeDocument/2006/relationships/image"/><Relationship Id="rId23" Target="../media/image27.png" Type="http://schemas.openxmlformats.org/officeDocument/2006/relationships/image"/><Relationship Id="rId24" Target="../media/image28.png" Type="http://schemas.openxmlformats.org/officeDocument/2006/relationships/image"/><Relationship Id="rId25" Target="../media/image29.png" Type="http://schemas.openxmlformats.org/officeDocument/2006/relationships/image"/><Relationship Id="rId26" Target="../media/image30.png" Type="http://schemas.openxmlformats.org/officeDocument/2006/relationships/image"/><Relationship Id="rId27" Target="../media/image3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5.png" Type="http://schemas.openxmlformats.org/officeDocument/2006/relationships/image"/><Relationship Id="rId17" Target="../media/image16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5.png" Type="http://schemas.openxmlformats.org/officeDocument/2006/relationships/image"/><Relationship Id="rId17" Target="../media/image16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5.png" Type="http://schemas.openxmlformats.org/officeDocument/2006/relationships/image"/><Relationship Id="rId17" Target="../media/image16.svg" Type="http://schemas.openxmlformats.org/officeDocument/2006/relationships/image"/><Relationship Id="rId18" Target="../media/image32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5.png" Type="http://schemas.openxmlformats.org/officeDocument/2006/relationships/image"/><Relationship Id="rId17" Target="../media/image16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EB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655863">
            <a:off x="-2718108" y="7914948"/>
            <a:ext cx="6863334" cy="5881426"/>
          </a:xfrm>
          <a:custGeom>
            <a:avLst/>
            <a:gdLst/>
            <a:ahLst/>
            <a:cxnLst/>
            <a:rect r="r" b="b" t="t" l="l"/>
            <a:pathLst>
              <a:path h="5881426" w="6863334">
                <a:moveTo>
                  <a:pt x="6863335" y="0"/>
                </a:moveTo>
                <a:lnTo>
                  <a:pt x="0" y="0"/>
                </a:lnTo>
                <a:lnTo>
                  <a:pt x="0" y="5881427"/>
                </a:lnTo>
                <a:lnTo>
                  <a:pt x="6863335" y="5881427"/>
                </a:lnTo>
                <a:lnTo>
                  <a:pt x="6863335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277970">
            <a:off x="14614314" y="8038309"/>
            <a:ext cx="5289973" cy="5109779"/>
          </a:xfrm>
          <a:custGeom>
            <a:avLst/>
            <a:gdLst/>
            <a:ahLst/>
            <a:cxnLst/>
            <a:rect r="r" b="b" t="t" l="l"/>
            <a:pathLst>
              <a:path h="5109779" w="5289973">
                <a:moveTo>
                  <a:pt x="0" y="0"/>
                </a:moveTo>
                <a:lnTo>
                  <a:pt x="5289972" y="0"/>
                </a:lnTo>
                <a:lnTo>
                  <a:pt x="5289972" y="5109779"/>
                </a:lnTo>
                <a:lnTo>
                  <a:pt x="0" y="5109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9767822" y="9456441"/>
            <a:ext cx="4844329" cy="4114800"/>
          </a:xfrm>
          <a:custGeom>
            <a:avLst/>
            <a:gdLst/>
            <a:ahLst/>
            <a:cxnLst/>
            <a:rect r="r" b="b" t="t" l="l"/>
            <a:pathLst>
              <a:path h="4114800" w="4844329">
                <a:moveTo>
                  <a:pt x="4844329" y="0"/>
                </a:moveTo>
                <a:lnTo>
                  <a:pt x="0" y="0"/>
                </a:lnTo>
                <a:lnTo>
                  <a:pt x="0" y="4114800"/>
                </a:lnTo>
                <a:lnTo>
                  <a:pt x="4844329" y="4114800"/>
                </a:lnTo>
                <a:lnTo>
                  <a:pt x="4844329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4023618" y="9456441"/>
            <a:ext cx="6729198" cy="4114800"/>
          </a:xfrm>
          <a:custGeom>
            <a:avLst/>
            <a:gdLst/>
            <a:ahLst/>
            <a:cxnLst/>
            <a:rect r="r" b="b" t="t" l="l"/>
            <a:pathLst>
              <a:path h="4114800" w="6729198">
                <a:moveTo>
                  <a:pt x="0" y="4114800"/>
                </a:moveTo>
                <a:lnTo>
                  <a:pt x="6729198" y="4114800"/>
                </a:lnTo>
                <a:lnTo>
                  <a:pt x="6729198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81425" y="9258300"/>
            <a:ext cx="1694549" cy="2057400"/>
          </a:xfrm>
          <a:custGeom>
            <a:avLst/>
            <a:gdLst/>
            <a:ahLst/>
            <a:cxnLst/>
            <a:rect r="r" b="b" t="t" l="l"/>
            <a:pathLst>
              <a:path h="2057400" w="1694549">
                <a:moveTo>
                  <a:pt x="0" y="0"/>
                </a:moveTo>
                <a:lnTo>
                  <a:pt x="1694550" y="0"/>
                </a:lnTo>
                <a:lnTo>
                  <a:pt x="169455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146571" y="9531439"/>
            <a:ext cx="2483292" cy="1324222"/>
          </a:xfrm>
          <a:custGeom>
            <a:avLst/>
            <a:gdLst/>
            <a:ahLst/>
            <a:cxnLst/>
            <a:rect r="r" b="b" t="t" l="l"/>
            <a:pathLst>
              <a:path h="1324222" w="2483292">
                <a:moveTo>
                  <a:pt x="0" y="0"/>
                </a:moveTo>
                <a:lnTo>
                  <a:pt x="2483292" y="0"/>
                </a:lnTo>
                <a:lnTo>
                  <a:pt x="2483292" y="1324223"/>
                </a:lnTo>
                <a:lnTo>
                  <a:pt x="0" y="132422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-10209537">
            <a:off x="14026850" y="-3520368"/>
            <a:ext cx="6863334" cy="5881426"/>
          </a:xfrm>
          <a:custGeom>
            <a:avLst/>
            <a:gdLst/>
            <a:ahLst/>
            <a:cxnLst/>
            <a:rect r="r" b="b" t="t" l="l"/>
            <a:pathLst>
              <a:path h="5881426" w="6863334">
                <a:moveTo>
                  <a:pt x="6863334" y="0"/>
                </a:moveTo>
                <a:lnTo>
                  <a:pt x="0" y="0"/>
                </a:lnTo>
                <a:lnTo>
                  <a:pt x="0" y="5881427"/>
                </a:lnTo>
                <a:lnTo>
                  <a:pt x="6863334" y="5881427"/>
                </a:lnTo>
                <a:lnTo>
                  <a:pt x="686333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5587429">
            <a:off x="-1724223" y="-2557377"/>
            <a:ext cx="5289973" cy="5109779"/>
          </a:xfrm>
          <a:custGeom>
            <a:avLst/>
            <a:gdLst/>
            <a:ahLst/>
            <a:cxnLst/>
            <a:rect r="r" b="b" t="t" l="l"/>
            <a:pathLst>
              <a:path h="5109779" w="5289973">
                <a:moveTo>
                  <a:pt x="0" y="0"/>
                </a:moveTo>
                <a:lnTo>
                  <a:pt x="5289972" y="0"/>
                </a:lnTo>
                <a:lnTo>
                  <a:pt x="5289972" y="5109779"/>
                </a:lnTo>
                <a:lnTo>
                  <a:pt x="0" y="5109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10734599">
            <a:off x="3549481" y="-3076798"/>
            <a:ext cx="4844329" cy="4114800"/>
          </a:xfrm>
          <a:custGeom>
            <a:avLst/>
            <a:gdLst/>
            <a:ahLst/>
            <a:cxnLst/>
            <a:rect r="r" b="b" t="t" l="l"/>
            <a:pathLst>
              <a:path h="4114800" w="4844329">
                <a:moveTo>
                  <a:pt x="4844329" y="0"/>
                </a:moveTo>
                <a:lnTo>
                  <a:pt x="0" y="0"/>
                </a:lnTo>
                <a:lnTo>
                  <a:pt x="0" y="4114800"/>
                </a:lnTo>
                <a:lnTo>
                  <a:pt x="4844329" y="4114800"/>
                </a:lnTo>
                <a:lnTo>
                  <a:pt x="4844329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true" rot="10734599">
            <a:off x="7407947" y="-3168142"/>
            <a:ext cx="6729198" cy="4114800"/>
          </a:xfrm>
          <a:custGeom>
            <a:avLst/>
            <a:gdLst/>
            <a:ahLst/>
            <a:cxnLst/>
            <a:rect r="r" b="b" t="t" l="l"/>
            <a:pathLst>
              <a:path h="4114800" w="6729198">
                <a:moveTo>
                  <a:pt x="0" y="4114800"/>
                </a:moveTo>
                <a:lnTo>
                  <a:pt x="6729199" y="4114800"/>
                </a:lnTo>
                <a:lnTo>
                  <a:pt x="6729199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10734599">
            <a:off x="16306976" y="-1033801"/>
            <a:ext cx="1694549" cy="2057400"/>
          </a:xfrm>
          <a:custGeom>
            <a:avLst/>
            <a:gdLst/>
            <a:ahLst/>
            <a:cxnLst/>
            <a:rect r="r" b="b" t="t" l="l"/>
            <a:pathLst>
              <a:path h="2057400" w="1694549">
                <a:moveTo>
                  <a:pt x="0" y="0"/>
                </a:moveTo>
                <a:lnTo>
                  <a:pt x="1694550" y="0"/>
                </a:lnTo>
                <a:lnTo>
                  <a:pt x="169455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10734599">
            <a:off x="9556016" y="-452802"/>
            <a:ext cx="2483292" cy="1324222"/>
          </a:xfrm>
          <a:custGeom>
            <a:avLst/>
            <a:gdLst/>
            <a:ahLst/>
            <a:cxnLst/>
            <a:rect r="r" b="b" t="t" l="l"/>
            <a:pathLst>
              <a:path h="1324222" w="2483292">
                <a:moveTo>
                  <a:pt x="0" y="0"/>
                </a:moveTo>
                <a:lnTo>
                  <a:pt x="2483293" y="0"/>
                </a:lnTo>
                <a:lnTo>
                  <a:pt x="2483293" y="1324223"/>
                </a:lnTo>
                <a:lnTo>
                  <a:pt x="0" y="132422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3694423" y="-2436222"/>
            <a:ext cx="2277223" cy="2833649"/>
          </a:xfrm>
          <a:custGeom>
            <a:avLst/>
            <a:gdLst/>
            <a:ahLst/>
            <a:cxnLst/>
            <a:rect r="r" b="b" t="t" l="l"/>
            <a:pathLst>
              <a:path h="2833649" w="2277223">
                <a:moveTo>
                  <a:pt x="0" y="0"/>
                </a:moveTo>
                <a:lnTo>
                  <a:pt x="2277223" y="0"/>
                </a:lnTo>
                <a:lnTo>
                  <a:pt x="2277223" y="2833649"/>
                </a:lnTo>
                <a:lnTo>
                  <a:pt x="0" y="283364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0393908" y="9531439"/>
            <a:ext cx="2277223" cy="2833649"/>
          </a:xfrm>
          <a:custGeom>
            <a:avLst/>
            <a:gdLst/>
            <a:ahLst/>
            <a:cxnLst/>
            <a:rect r="r" b="b" t="t" l="l"/>
            <a:pathLst>
              <a:path h="2833649" w="2277223">
                <a:moveTo>
                  <a:pt x="0" y="0"/>
                </a:moveTo>
                <a:lnTo>
                  <a:pt x="2277223" y="0"/>
                </a:lnTo>
                <a:lnTo>
                  <a:pt x="2277223" y="2833649"/>
                </a:lnTo>
                <a:lnTo>
                  <a:pt x="0" y="2833649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2585982" y="2961463"/>
            <a:ext cx="13411646" cy="28285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70"/>
              </a:lnSpc>
            </a:pPr>
            <a:r>
              <a:rPr lang="en-US" sz="6700">
                <a:solidFill>
                  <a:srgbClr val="5A3831"/>
                </a:solidFill>
                <a:latin typeface="Grand Cru M"/>
                <a:ea typeface="Grand Cru M"/>
                <a:cs typeface="Grand Cru M"/>
                <a:sym typeface="Grand Cru M"/>
              </a:rPr>
              <a:t>Paneer Contamination Detection Using Hyperspectral Imaging and Deep Learning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014098" y="6760926"/>
            <a:ext cx="6259804" cy="1598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52"/>
              </a:lnSpc>
            </a:pPr>
            <a:r>
              <a:rPr lang="en-US" sz="3052" b="true">
                <a:solidFill>
                  <a:srgbClr val="5A3831"/>
                </a:solidFill>
                <a:latin typeface="Grand Cru M Bold"/>
                <a:ea typeface="Grand Cru M Bold"/>
                <a:cs typeface="Grand Cru M Bold"/>
                <a:sym typeface="Grand Cru M Bold"/>
              </a:rPr>
              <a:t>Presented By</a:t>
            </a:r>
          </a:p>
          <a:p>
            <a:pPr algn="ctr">
              <a:lnSpc>
                <a:spcPts val="1167"/>
              </a:lnSpc>
            </a:pPr>
          </a:p>
          <a:p>
            <a:pPr algn="ctr">
              <a:lnSpc>
                <a:spcPts val="2783"/>
              </a:lnSpc>
            </a:pPr>
            <a:r>
              <a:rPr lang="en-US" sz="2783">
                <a:solidFill>
                  <a:srgbClr val="5A3831"/>
                </a:solidFill>
                <a:latin typeface="Grand Cru M"/>
                <a:ea typeface="Grand Cru M"/>
                <a:cs typeface="Grand Cru M"/>
                <a:sym typeface="Grand Cru M"/>
              </a:rPr>
              <a:t>23MIA1074 - Nadia Naureen</a:t>
            </a:r>
          </a:p>
          <a:p>
            <a:pPr algn="ctr">
              <a:lnSpc>
                <a:spcPts val="2783"/>
              </a:lnSpc>
            </a:pPr>
            <a:r>
              <a:rPr lang="en-US" sz="2783">
                <a:solidFill>
                  <a:srgbClr val="5A3831"/>
                </a:solidFill>
                <a:latin typeface="Grand Cru M"/>
                <a:ea typeface="Grand Cru M"/>
                <a:cs typeface="Grand Cru M"/>
                <a:sym typeface="Grand Cru M"/>
              </a:rPr>
              <a:t>23MIA1099 - Divya P</a:t>
            </a:r>
          </a:p>
          <a:p>
            <a:pPr algn="ctr">
              <a:lnSpc>
                <a:spcPts val="2783"/>
              </a:lnSpc>
            </a:pPr>
            <a:r>
              <a:rPr lang="en-US" sz="2783">
                <a:solidFill>
                  <a:srgbClr val="5A3831"/>
                </a:solidFill>
                <a:latin typeface="Grand Cru M"/>
                <a:ea typeface="Grand Cru M"/>
                <a:cs typeface="Grand Cru M"/>
                <a:sym typeface="Grand Cru M"/>
              </a:rPr>
              <a:t>23MIA1130 - Tannya Pasricha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066638" y="8730679"/>
            <a:ext cx="4154723" cy="4120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00"/>
              </a:lnSpc>
              <a:spcBef>
                <a:spcPct val="0"/>
              </a:spcBef>
            </a:pPr>
            <a:r>
              <a:rPr lang="en-US" b="true" sz="3100">
                <a:solidFill>
                  <a:srgbClr val="5A3831"/>
                </a:solidFill>
                <a:latin typeface="Grand Cru M Bold"/>
                <a:ea typeface="Grand Cru M Bold"/>
                <a:cs typeface="Grand Cru M Bold"/>
                <a:sym typeface="Grand Cru M Bold"/>
              </a:rPr>
              <a:t>Faculty: Dr Geetha 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428041" y="2066960"/>
            <a:ext cx="7431918" cy="375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3"/>
              </a:lnSpc>
              <a:spcBef>
                <a:spcPct val="0"/>
              </a:spcBef>
            </a:pPr>
            <a:r>
              <a:rPr lang="en-US" sz="2783">
                <a:solidFill>
                  <a:srgbClr val="5A3831"/>
                </a:solidFill>
                <a:latin typeface="Grand Cru M"/>
                <a:ea typeface="Grand Cru M"/>
                <a:cs typeface="Grand Cru M"/>
                <a:sym typeface="Grand Cru M"/>
              </a:rPr>
              <a:t>DIGITAL IMAGE PROCESSING PROJECT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EB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655863">
            <a:off x="-2718108" y="7914948"/>
            <a:ext cx="6863334" cy="5881426"/>
          </a:xfrm>
          <a:custGeom>
            <a:avLst/>
            <a:gdLst/>
            <a:ahLst/>
            <a:cxnLst/>
            <a:rect r="r" b="b" t="t" l="l"/>
            <a:pathLst>
              <a:path h="5881426" w="6863334">
                <a:moveTo>
                  <a:pt x="6863335" y="0"/>
                </a:moveTo>
                <a:lnTo>
                  <a:pt x="0" y="0"/>
                </a:lnTo>
                <a:lnTo>
                  <a:pt x="0" y="5881427"/>
                </a:lnTo>
                <a:lnTo>
                  <a:pt x="6863335" y="5881427"/>
                </a:lnTo>
                <a:lnTo>
                  <a:pt x="6863335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277970">
            <a:off x="14614314" y="8038309"/>
            <a:ext cx="5289973" cy="5109779"/>
          </a:xfrm>
          <a:custGeom>
            <a:avLst/>
            <a:gdLst/>
            <a:ahLst/>
            <a:cxnLst/>
            <a:rect r="r" b="b" t="t" l="l"/>
            <a:pathLst>
              <a:path h="5109779" w="5289973">
                <a:moveTo>
                  <a:pt x="0" y="0"/>
                </a:moveTo>
                <a:lnTo>
                  <a:pt x="5289972" y="0"/>
                </a:lnTo>
                <a:lnTo>
                  <a:pt x="5289972" y="5109779"/>
                </a:lnTo>
                <a:lnTo>
                  <a:pt x="0" y="5109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9767822" y="9456441"/>
            <a:ext cx="4844329" cy="4114800"/>
          </a:xfrm>
          <a:custGeom>
            <a:avLst/>
            <a:gdLst/>
            <a:ahLst/>
            <a:cxnLst/>
            <a:rect r="r" b="b" t="t" l="l"/>
            <a:pathLst>
              <a:path h="4114800" w="4844329">
                <a:moveTo>
                  <a:pt x="4844329" y="0"/>
                </a:moveTo>
                <a:lnTo>
                  <a:pt x="0" y="0"/>
                </a:lnTo>
                <a:lnTo>
                  <a:pt x="0" y="4114800"/>
                </a:lnTo>
                <a:lnTo>
                  <a:pt x="4844329" y="4114800"/>
                </a:lnTo>
                <a:lnTo>
                  <a:pt x="4844329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4023618" y="9456441"/>
            <a:ext cx="6729198" cy="4114800"/>
          </a:xfrm>
          <a:custGeom>
            <a:avLst/>
            <a:gdLst/>
            <a:ahLst/>
            <a:cxnLst/>
            <a:rect r="r" b="b" t="t" l="l"/>
            <a:pathLst>
              <a:path h="4114800" w="6729198">
                <a:moveTo>
                  <a:pt x="0" y="4114800"/>
                </a:moveTo>
                <a:lnTo>
                  <a:pt x="6729198" y="4114800"/>
                </a:lnTo>
                <a:lnTo>
                  <a:pt x="6729198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81425" y="9258300"/>
            <a:ext cx="1694549" cy="2057400"/>
          </a:xfrm>
          <a:custGeom>
            <a:avLst/>
            <a:gdLst/>
            <a:ahLst/>
            <a:cxnLst/>
            <a:rect r="r" b="b" t="t" l="l"/>
            <a:pathLst>
              <a:path h="2057400" w="1694549">
                <a:moveTo>
                  <a:pt x="0" y="0"/>
                </a:moveTo>
                <a:lnTo>
                  <a:pt x="1694550" y="0"/>
                </a:lnTo>
                <a:lnTo>
                  <a:pt x="169455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146571" y="9531439"/>
            <a:ext cx="2483292" cy="1324222"/>
          </a:xfrm>
          <a:custGeom>
            <a:avLst/>
            <a:gdLst/>
            <a:ahLst/>
            <a:cxnLst/>
            <a:rect r="r" b="b" t="t" l="l"/>
            <a:pathLst>
              <a:path h="1324222" w="2483292">
                <a:moveTo>
                  <a:pt x="0" y="0"/>
                </a:moveTo>
                <a:lnTo>
                  <a:pt x="2483292" y="0"/>
                </a:lnTo>
                <a:lnTo>
                  <a:pt x="2483292" y="1324223"/>
                </a:lnTo>
                <a:lnTo>
                  <a:pt x="0" y="132422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-10209537">
            <a:off x="14026850" y="-3520368"/>
            <a:ext cx="6863334" cy="5881426"/>
          </a:xfrm>
          <a:custGeom>
            <a:avLst/>
            <a:gdLst/>
            <a:ahLst/>
            <a:cxnLst/>
            <a:rect r="r" b="b" t="t" l="l"/>
            <a:pathLst>
              <a:path h="5881426" w="6863334">
                <a:moveTo>
                  <a:pt x="6863334" y="0"/>
                </a:moveTo>
                <a:lnTo>
                  <a:pt x="0" y="0"/>
                </a:lnTo>
                <a:lnTo>
                  <a:pt x="0" y="5881427"/>
                </a:lnTo>
                <a:lnTo>
                  <a:pt x="6863334" y="5881427"/>
                </a:lnTo>
                <a:lnTo>
                  <a:pt x="686333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5587429">
            <a:off x="-1724223" y="-2557377"/>
            <a:ext cx="5289973" cy="5109779"/>
          </a:xfrm>
          <a:custGeom>
            <a:avLst/>
            <a:gdLst/>
            <a:ahLst/>
            <a:cxnLst/>
            <a:rect r="r" b="b" t="t" l="l"/>
            <a:pathLst>
              <a:path h="5109779" w="5289973">
                <a:moveTo>
                  <a:pt x="0" y="0"/>
                </a:moveTo>
                <a:lnTo>
                  <a:pt x="5289972" y="0"/>
                </a:lnTo>
                <a:lnTo>
                  <a:pt x="5289972" y="5109779"/>
                </a:lnTo>
                <a:lnTo>
                  <a:pt x="0" y="5109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10734599">
            <a:off x="3549481" y="-3076798"/>
            <a:ext cx="4844329" cy="4114800"/>
          </a:xfrm>
          <a:custGeom>
            <a:avLst/>
            <a:gdLst/>
            <a:ahLst/>
            <a:cxnLst/>
            <a:rect r="r" b="b" t="t" l="l"/>
            <a:pathLst>
              <a:path h="4114800" w="4844329">
                <a:moveTo>
                  <a:pt x="4844329" y="0"/>
                </a:moveTo>
                <a:lnTo>
                  <a:pt x="0" y="0"/>
                </a:lnTo>
                <a:lnTo>
                  <a:pt x="0" y="4114800"/>
                </a:lnTo>
                <a:lnTo>
                  <a:pt x="4844329" y="4114800"/>
                </a:lnTo>
                <a:lnTo>
                  <a:pt x="4844329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true" rot="10734599">
            <a:off x="7407947" y="-3168142"/>
            <a:ext cx="6729198" cy="4114800"/>
          </a:xfrm>
          <a:custGeom>
            <a:avLst/>
            <a:gdLst/>
            <a:ahLst/>
            <a:cxnLst/>
            <a:rect r="r" b="b" t="t" l="l"/>
            <a:pathLst>
              <a:path h="4114800" w="6729198">
                <a:moveTo>
                  <a:pt x="0" y="4114800"/>
                </a:moveTo>
                <a:lnTo>
                  <a:pt x="6729199" y="4114800"/>
                </a:lnTo>
                <a:lnTo>
                  <a:pt x="6729199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10734599">
            <a:off x="16306976" y="-1033801"/>
            <a:ext cx="1694549" cy="2057400"/>
          </a:xfrm>
          <a:custGeom>
            <a:avLst/>
            <a:gdLst/>
            <a:ahLst/>
            <a:cxnLst/>
            <a:rect r="r" b="b" t="t" l="l"/>
            <a:pathLst>
              <a:path h="2057400" w="1694549">
                <a:moveTo>
                  <a:pt x="0" y="0"/>
                </a:moveTo>
                <a:lnTo>
                  <a:pt x="1694550" y="0"/>
                </a:lnTo>
                <a:lnTo>
                  <a:pt x="169455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10734599">
            <a:off x="9556016" y="-452802"/>
            <a:ext cx="2483292" cy="1324222"/>
          </a:xfrm>
          <a:custGeom>
            <a:avLst/>
            <a:gdLst/>
            <a:ahLst/>
            <a:cxnLst/>
            <a:rect r="r" b="b" t="t" l="l"/>
            <a:pathLst>
              <a:path h="1324222" w="2483292">
                <a:moveTo>
                  <a:pt x="0" y="0"/>
                </a:moveTo>
                <a:lnTo>
                  <a:pt x="2483293" y="0"/>
                </a:lnTo>
                <a:lnTo>
                  <a:pt x="2483293" y="1324223"/>
                </a:lnTo>
                <a:lnTo>
                  <a:pt x="0" y="132422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3694423" y="-2436222"/>
            <a:ext cx="2277223" cy="2833649"/>
          </a:xfrm>
          <a:custGeom>
            <a:avLst/>
            <a:gdLst/>
            <a:ahLst/>
            <a:cxnLst/>
            <a:rect r="r" b="b" t="t" l="l"/>
            <a:pathLst>
              <a:path h="2833649" w="2277223">
                <a:moveTo>
                  <a:pt x="0" y="0"/>
                </a:moveTo>
                <a:lnTo>
                  <a:pt x="2277223" y="0"/>
                </a:lnTo>
                <a:lnTo>
                  <a:pt x="2277223" y="2833649"/>
                </a:lnTo>
                <a:lnTo>
                  <a:pt x="0" y="283364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0393908" y="9531439"/>
            <a:ext cx="2277223" cy="2833649"/>
          </a:xfrm>
          <a:custGeom>
            <a:avLst/>
            <a:gdLst/>
            <a:ahLst/>
            <a:cxnLst/>
            <a:rect r="r" b="b" t="t" l="l"/>
            <a:pathLst>
              <a:path h="2833649" w="2277223">
                <a:moveTo>
                  <a:pt x="0" y="0"/>
                </a:moveTo>
                <a:lnTo>
                  <a:pt x="2277223" y="0"/>
                </a:lnTo>
                <a:lnTo>
                  <a:pt x="2277223" y="2833649"/>
                </a:lnTo>
                <a:lnTo>
                  <a:pt x="0" y="2833649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3459109" y="4337857"/>
            <a:ext cx="11369783" cy="29078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46080" indent="-273040" lvl="1">
              <a:lnSpc>
                <a:spcPts val="2529"/>
              </a:lnSpc>
              <a:buFont typeface="Arial"/>
              <a:buChar char="•"/>
            </a:pPr>
            <a:r>
              <a:rPr lang="en-US" sz="2529">
                <a:solidFill>
                  <a:srgbClr val="5A3831"/>
                </a:solidFill>
                <a:latin typeface="Grand Cru M"/>
                <a:ea typeface="Grand Cru M"/>
                <a:cs typeface="Grand Cru M"/>
                <a:sym typeface="Grand Cru M"/>
              </a:rPr>
              <a:t>Food contamination is a major issue in the dairy industry, especially in perishable products like paneer.</a:t>
            </a:r>
          </a:p>
          <a:p>
            <a:pPr algn="l">
              <a:lnSpc>
                <a:spcPts val="2529"/>
              </a:lnSpc>
            </a:pPr>
          </a:p>
          <a:p>
            <a:pPr algn="l" marL="546080" indent="-273040" lvl="1">
              <a:lnSpc>
                <a:spcPts val="2529"/>
              </a:lnSpc>
              <a:buFont typeface="Arial"/>
              <a:buChar char="•"/>
            </a:pPr>
            <a:r>
              <a:rPr lang="en-US" sz="2529">
                <a:solidFill>
                  <a:srgbClr val="5A3831"/>
                </a:solidFill>
                <a:latin typeface="Grand Cru M"/>
                <a:ea typeface="Grand Cru M"/>
                <a:cs typeface="Grand Cru M"/>
                <a:sym typeface="Grand Cru M"/>
              </a:rPr>
              <a:t>Traditional contamination detection relies on manual inspection or chemical testing, which is slow and destructive.</a:t>
            </a:r>
          </a:p>
          <a:p>
            <a:pPr algn="l">
              <a:lnSpc>
                <a:spcPts val="2529"/>
              </a:lnSpc>
            </a:pPr>
          </a:p>
          <a:p>
            <a:pPr algn="l" marL="546080" indent="-273040" lvl="1">
              <a:lnSpc>
                <a:spcPts val="2529"/>
              </a:lnSpc>
              <a:buFont typeface="Arial"/>
              <a:buChar char="•"/>
            </a:pPr>
            <a:r>
              <a:rPr lang="en-US" sz="2529">
                <a:solidFill>
                  <a:srgbClr val="5A3831"/>
                </a:solidFill>
                <a:latin typeface="Grand Cru M"/>
                <a:ea typeface="Grand Cru M"/>
                <a:cs typeface="Grand Cru M"/>
                <a:sym typeface="Grand Cru M"/>
              </a:rPr>
              <a:t>There is a need for non-destructive, automated methods to monitor food safety and quality in real time.</a:t>
            </a:r>
          </a:p>
          <a:p>
            <a:pPr algn="l">
              <a:lnSpc>
                <a:spcPts val="2529"/>
              </a:lnSpc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2438177" y="2452151"/>
            <a:ext cx="13411646" cy="961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70"/>
              </a:lnSpc>
            </a:pPr>
            <a:r>
              <a:rPr lang="en-US" sz="6700">
                <a:solidFill>
                  <a:srgbClr val="5A3831"/>
                </a:solidFill>
                <a:latin typeface="Grand Cru M"/>
                <a:ea typeface="Grand Cru M"/>
                <a:cs typeface="Grand Cru M"/>
                <a:sym typeface="Grand Cru M"/>
              </a:rPr>
              <a:t>Motivation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EB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655863">
            <a:off x="-2718108" y="7914948"/>
            <a:ext cx="6863334" cy="5881426"/>
          </a:xfrm>
          <a:custGeom>
            <a:avLst/>
            <a:gdLst/>
            <a:ahLst/>
            <a:cxnLst/>
            <a:rect r="r" b="b" t="t" l="l"/>
            <a:pathLst>
              <a:path h="5881426" w="6863334">
                <a:moveTo>
                  <a:pt x="6863335" y="0"/>
                </a:moveTo>
                <a:lnTo>
                  <a:pt x="0" y="0"/>
                </a:lnTo>
                <a:lnTo>
                  <a:pt x="0" y="5881427"/>
                </a:lnTo>
                <a:lnTo>
                  <a:pt x="6863335" y="5881427"/>
                </a:lnTo>
                <a:lnTo>
                  <a:pt x="6863335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277970">
            <a:off x="14614314" y="8038309"/>
            <a:ext cx="5289973" cy="5109779"/>
          </a:xfrm>
          <a:custGeom>
            <a:avLst/>
            <a:gdLst/>
            <a:ahLst/>
            <a:cxnLst/>
            <a:rect r="r" b="b" t="t" l="l"/>
            <a:pathLst>
              <a:path h="5109779" w="5289973">
                <a:moveTo>
                  <a:pt x="0" y="0"/>
                </a:moveTo>
                <a:lnTo>
                  <a:pt x="5289972" y="0"/>
                </a:lnTo>
                <a:lnTo>
                  <a:pt x="5289972" y="5109779"/>
                </a:lnTo>
                <a:lnTo>
                  <a:pt x="0" y="5109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9767822" y="9456441"/>
            <a:ext cx="4844329" cy="4114800"/>
          </a:xfrm>
          <a:custGeom>
            <a:avLst/>
            <a:gdLst/>
            <a:ahLst/>
            <a:cxnLst/>
            <a:rect r="r" b="b" t="t" l="l"/>
            <a:pathLst>
              <a:path h="4114800" w="4844329">
                <a:moveTo>
                  <a:pt x="4844329" y="0"/>
                </a:moveTo>
                <a:lnTo>
                  <a:pt x="0" y="0"/>
                </a:lnTo>
                <a:lnTo>
                  <a:pt x="0" y="4114800"/>
                </a:lnTo>
                <a:lnTo>
                  <a:pt x="4844329" y="4114800"/>
                </a:lnTo>
                <a:lnTo>
                  <a:pt x="4844329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4023618" y="9456441"/>
            <a:ext cx="6729198" cy="4114800"/>
          </a:xfrm>
          <a:custGeom>
            <a:avLst/>
            <a:gdLst/>
            <a:ahLst/>
            <a:cxnLst/>
            <a:rect r="r" b="b" t="t" l="l"/>
            <a:pathLst>
              <a:path h="4114800" w="6729198">
                <a:moveTo>
                  <a:pt x="0" y="4114800"/>
                </a:moveTo>
                <a:lnTo>
                  <a:pt x="6729198" y="4114800"/>
                </a:lnTo>
                <a:lnTo>
                  <a:pt x="6729198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81425" y="9258300"/>
            <a:ext cx="1694549" cy="2057400"/>
          </a:xfrm>
          <a:custGeom>
            <a:avLst/>
            <a:gdLst/>
            <a:ahLst/>
            <a:cxnLst/>
            <a:rect r="r" b="b" t="t" l="l"/>
            <a:pathLst>
              <a:path h="2057400" w="1694549">
                <a:moveTo>
                  <a:pt x="0" y="0"/>
                </a:moveTo>
                <a:lnTo>
                  <a:pt x="1694550" y="0"/>
                </a:lnTo>
                <a:lnTo>
                  <a:pt x="169455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146571" y="9531439"/>
            <a:ext cx="2483292" cy="1324222"/>
          </a:xfrm>
          <a:custGeom>
            <a:avLst/>
            <a:gdLst/>
            <a:ahLst/>
            <a:cxnLst/>
            <a:rect r="r" b="b" t="t" l="l"/>
            <a:pathLst>
              <a:path h="1324222" w="2483292">
                <a:moveTo>
                  <a:pt x="0" y="0"/>
                </a:moveTo>
                <a:lnTo>
                  <a:pt x="2483292" y="0"/>
                </a:lnTo>
                <a:lnTo>
                  <a:pt x="2483292" y="1324223"/>
                </a:lnTo>
                <a:lnTo>
                  <a:pt x="0" y="132422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-10209537">
            <a:off x="14026850" y="-3520368"/>
            <a:ext cx="6863334" cy="5881426"/>
          </a:xfrm>
          <a:custGeom>
            <a:avLst/>
            <a:gdLst/>
            <a:ahLst/>
            <a:cxnLst/>
            <a:rect r="r" b="b" t="t" l="l"/>
            <a:pathLst>
              <a:path h="5881426" w="6863334">
                <a:moveTo>
                  <a:pt x="6863334" y="0"/>
                </a:moveTo>
                <a:lnTo>
                  <a:pt x="0" y="0"/>
                </a:lnTo>
                <a:lnTo>
                  <a:pt x="0" y="5881427"/>
                </a:lnTo>
                <a:lnTo>
                  <a:pt x="6863334" y="5881427"/>
                </a:lnTo>
                <a:lnTo>
                  <a:pt x="686333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5587429">
            <a:off x="-1724223" y="-2557377"/>
            <a:ext cx="5289973" cy="5109779"/>
          </a:xfrm>
          <a:custGeom>
            <a:avLst/>
            <a:gdLst/>
            <a:ahLst/>
            <a:cxnLst/>
            <a:rect r="r" b="b" t="t" l="l"/>
            <a:pathLst>
              <a:path h="5109779" w="5289973">
                <a:moveTo>
                  <a:pt x="0" y="0"/>
                </a:moveTo>
                <a:lnTo>
                  <a:pt x="5289972" y="0"/>
                </a:lnTo>
                <a:lnTo>
                  <a:pt x="5289972" y="5109779"/>
                </a:lnTo>
                <a:lnTo>
                  <a:pt x="0" y="5109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10734599">
            <a:off x="3549481" y="-3076798"/>
            <a:ext cx="4844329" cy="4114800"/>
          </a:xfrm>
          <a:custGeom>
            <a:avLst/>
            <a:gdLst/>
            <a:ahLst/>
            <a:cxnLst/>
            <a:rect r="r" b="b" t="t" l="l"/>
            <a:pathLst>
              <a:path h="4114800" w="4844329">
                <a:moveTo>
                  <a:pt x="4844329" y="0"/>
                </a:moveTo>
                <a:lnTo>
                  <a:pt x="0" y="0"/>
                </a:lnTo>
                <a:lnTo>
                  <a:pt x="0" y="4114800"/>
                </a:lnTo>
                <a:lnTo>
                  <a:pt x="4844329" y="4114800"/>
                </a:lnTo>
                <a:lnTo>
                  <a:pt x="4844329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true" rot="10734599">
            <a:off x="7407947" y="-3168142"/>
            <a:ext cx="6729198" cy="4114800"/>
          </a:xfrm>
          <a:custGeom>
            <a:avLst/>
            <a:gdLst/>
            <a:ahLst/>
            <a:cxnLst/>
            <a:rect r="r" b="b" t="t" l="l"/>
            <a:pathLst>
              <a:path h="4114800" w="6729198">
                <a:moveTo>
                  <a:pt x="0" y="4114800"/>
                </a:moveTo>
                <a:lnTo>
                  <a:pt x="6729199" y="4114800"/>
                </a:lnTo>
                <a:lnTo>
                  <a:pt x="6729199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10734599">
            <a:off x="16306976" y="-1033801"/>
            <a:ext cx="1694549" cy="2057400"/>
          </a:xfrm>
          <a:custGeom>
            <a:avLst/>
            <a:gdLst/>
            <a:ahLst/>
            <a:cxnLst/>
            <a:rect r="r" b="b" t="t" l="l"/>
            <a:pathLst>
              <a:path h="2057400" w="1694549">
                <a:moveTo>
                  <a:pt x="0" y="0"/>
                </a:moveTo>
                <a:lnTo>
                  <a:pt x="1694550" y="0"/>
                </a:lnTo>
                <a:lnTo>
                  <a:pt x="169455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10734599">
            <a:off x="9556016" y="-452802"/>
            <a:ext cx="2483292" cy="1324222"/>
          </a:xfrm>
          <a:custGeom>
            <a:avLst/>
            <a:gdLst/>
            <a:ahLst/>
            <a:cxnLst/>
            <a:rect r="r" b="b" t="t" l="l"/>
            <a:pathLst>
              <a:path h="1324222" w="2483292">
                <a:moveTo>
                  <a:pt x="0" y="0"/>
                </a:moveTo>
                <a:lnTo>
                  <a:pt x="2483293" y="0"/>
                </a:lnTo>
                <a:lnTo>
                  <a:pt x="2483293" y="1324223"/>
                </a:lnTo>
                <a:lnTo>
                  <a:pt x="0" y="132422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3694423" y="-2436222"/>
            <a:ext cx="2277223" cy="2833649"/>
          </a:xfrm>
          <a:custGeom>
            <a:avLst/>
            <a:gdLst/>
            <a:ahLst/>
            <a:cxnLst/>
            <a:rect r="r" b="b" t="t" l="l"/>
            <a:pathLst>
              <a:path h="2833649" w="2277223">
                <a:moveTo>
                  <a:pt x="0" y="0"/>
                </a:moveTo>
                <a:lnTo>
                  <a:pt x="2277223" y="0"/>
                </a:lnTo>
                <a:lnTo>
                  <a:pt x="2277223" y="2833649"/>
                </a:lnTo>
                <a:lnTo>
                  <a:pt x="0" y="283364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0393908" y="9531439"/>
            <a:ext cx="2277223" cy="2833649"/>
          </a:xfrm>
          <a:custGeom>
            <a:avLst/>
            <a:gdLst/>
            <a:ahLst/>
            <a:cxnLst/>
            <a:rect r="r" b="b" t="t" l="l"/>
            <a:pathLst>
              <a:path h="2833649" w="2277223">
                <a:moveTo>
                  <a:pt x="0" y="0"/>
                </a:moveTo>
                <a:lnTo>
                  <a:pt x="2277223" y="0"/>
                </a:lnTo>
                <a:lnTo>
                  <a:pt x="2277223" y="2833649"/>
                </a:lnTo>
                <a:lnTo>
                  <a:pt x="0" y="2833649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3459109" y="5191125"/>
            <a:ext cx="11369783" cy="2217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46079" indent="-273040" lvl="1">
              <a:lnSpc>
                <a:spcPts val="2529"/>
              </a:lnSpc>
              <a:buFont typeface="Arial"/>
              <a:buChar char="•"/>
            </a:pPr>
            <a:r>
              <a:rPr lang="en-US" sz="2529">
                <a:solidFill>
                  <a:srgbClr val="5A3831"/>
                </a:solidFill>
                <a:latin typeface="Grand Cru M"/>
                <a:ea typeface="Grand Cru M"/>
                <a:cs typeface="Grand Cru M"/>
                <a:sym typeface="Grand Cru M"/>
              </a:rPr>
              <a:t>Used thermal imaging to detect contaminated regions on bread.</a:t>
            </a:r>
          </a:p>
          <a:p>
            <a:pPr algn="l">
              <a:lnSpc>
                <a:spcPts val="2529"/>
              </a:lnSpc>
            </a:pPr>
          </a:p>
          <a:p>
            <a:pPr algn="l" marL="546079" indent="-273040" lvl="1">
              <a:lnSpc>
                <a:spcPts val="2529"/>
              </a:lnSpc>
              <a:buFont typeface="Arial"/>
              <a:buChar char="•"/>
            </a:pPr>
            <a:r>
              <a:rPr lang="en-US" sz="2529">
                <a:solidFill>
                  <a:srgbClr val="5A3831"/>
                </a:solidFill>
                <a:latin typeface="Grand Cru M"/>
                <a:ea typeface="Grand Cru M"/>
                <a:cs typeface="Grand Cru M"/>
                <a:sym typeface="Grand Cru M"/>
              </a:rPr>
              <a:t>Applied YOLO-based deep learning for classification and detection.</a:t>
            </a:r>
          </a:p>
          <a:p>
            <a:pPr algn="l">
              <a:lnSpc>
                <a:spcPts val="2529"/>
              </a:lnSpc>
            </a:pPr>
          </a:p>
          <a:p>
            <a:pPr algn="l" marL="546079" indent="-273040" lvl="1">
              <a:lnSpc>
                <a:spcPts val="2529"/>
              </a:lnSpc>
              <a:buFont typeface="Arial"/>
              <a:buChar char="•"/>
            </a:pPr>
            <a:r>
              <a:rPr lang="en-US" sz="2529">
                <a:solidFill>
                  <a:srgbClr val="5A3831"/>
                </a:solidFill>
                <a:latin typeface="Grand Cru M"/>
                <a:ea typeface="Grand Cru M"/>
                <a:cs typeface="Grand Cru M"/>
                <a:sym typeface="Grand Cru M"/>
              </a:rPr>
              <a:t>Achieved high accuracy in identifying contaminated zones through temperature variations.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438177" y="2452151"/>
            <a:ext cx="13411646" cy="961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70"/>
              </a:lnSpc>
            </a:pPr>
            <a:r>
              <a:rPr lang="en-US" sz="6700">
                <a:solidFill>
                  <a:srgbClr val="5A3831"/>
                </a:solidFill>
                <a:latin typeface="Grand Cru M"/>
                <a:ea typeface="Grand Cru M"/>
                <a:cs typeface="Grand Cru M"/>
                <a:sym typeface="Grand Cru M"/>
              </a:rPr>
              <a:t>Base Paper Summary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234581" y="3836890"/>
            <a:ext cx="7818838" cy="6454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9"/>
              </a:lnSpc>
            </a:pPr>
            <a:r>
              <a:rPr lang="en-US" sz="2529" b="true">
                <a:solidFill>
                  <a:srgbClr val="5A3831"/>
                </a:solidFill>
                <a:latin typeface="Grand Cru M Bold"/>
                <a:ea typeface="Grand Cru M Bold"/>
                <a:cs typeface="Grand Cru M Bold"/>
                <a:sym typeface="Grand Cru M Bold"/>
              </a:rPr>
              <a:t>“Bread Contamination Detection using Deep Learning and Thermal Imaging”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EB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655863">
            <a:off x="-2718108" y="7914948"/>
            <a:ext cx="6863334" cy="5881426"/>
          </a:xfrm>
          <a:custGeom>
            <a:avLst/>
            <a:gdLst/>
            <a:ahLst/>
            <a:cxnLst/>
            <a:rect r="r" b="b" t="t" l="l"/>
            <a:pathLst>
              <a:path h="5881426" w="6863334">
                <a:moveTo>
                  <a:pt x="6863335" y="0"/>
                </a:moveTo>
                <a:lnTo>
                  <a:pt x="0" y="0"/>
                </a:lnTo>
                <a:lnTo>
                  <a:pt x="0" y="5881427"/>
                </a:lnTo>
                <a:lnTo>
                  <a:pt x="6863335" y="5881427"/>
                </a:lnTo>
                <a:lnTo>
                  <a:pt x="6863335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277970">
            <a:off x="14614314" y="8038309"/>
            <a:ext cx="5289973" cy="5109779"/>
          </a:xfrm>
          <a:custGeom>
            <a:avLst/>
            <a:gdLst/>
            <a:ahLst/>
            <a:cxnLst/>
            <a:rect r="r" b="b" t="t" l="l"/>
            <a:pathLst>
              <a:path h="5109779" w="5289973">
                <a:moveTo>
                  <a:pt x="0" y="0"/>
                </a:moveTo>
                <a:lnTo>
                  <a:pt x="5289972" y="0"/>
                </a:lnTo>
                <a:lnTo>
                  <a:pt x="5289972" y="5109779"/>
                </a:lnTo>
                <a:lnTo>
                  <a:pt x="0" y="5109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9767822" y="9456441"/>
            <a:ext cx="4844329" cy="4114800"/>
          </a:xfrm>
          <a:custGeom>
            <a:avLst/>
            <a:gdLst/>
            <a:ahLst/>
            <a:cxnLst/>
            <a:rect r="r" b="b" t="t" l="l"/>
            <a:pathLst>
              <a:path h="4114800" w="4844329">
                <a:moveTo>
                  <a:pt x="4844329" y="0"/>
                </a:moveTo>
                <a:lnTo>
                  <a:pt x="0" y="0"/>
                </a:lnTo>
                <a:lnTo>
                  <a:pt x="0" y="4114800"/>
                </a:lnTo>
                <a:lnTo>
                  <a:pt x="4844329" y="4114800"/>
                </a:lnTo>
                <a:lnTo>
                  <a:pt x="4844329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4023618" y="9456441"/>
            <a:ext cx="6729198" cy="4114800"/>
          </a:xfrm>
          <a:custGeom>
            <a:avLst/>
            <a:gdLst/>
            <a:ahLst/>
            <a:cxnLst/>
            <a:rect r="r" b="b" t="t" l="l"/>
            <a:pathLst>
              <a:path h="4114800" w="6729198">
                <a:moveTo>
                  <a:pt x="0" y="4114800"/>
                </a:moveTo>
                <a:lnTo>
                  <a:pt x="6729198" y="4114800"/>
                </a:lnTo>
                <a:lnTo>
                  <a:pt x="6729198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81425" y="9258300"/>
            <a:ext cx="1694549" cy="2057400"/>
          </a:xfrm>
          <a:custGeom>
            <a:avLst/>
            <a:gdLst/>
            <a:ahLst/>
            <a:cxnLst/>
            <a:rect r="r" b="b" t="t" l="l"/>
            <a:pathLst>
              <a:path h="2057400" w="1694549">
                <a:moveTo>
                  <a:pt x="0" y="0"/>
                </a:moveTo>
                <a:lnTo>
                  <a:pt x="1694550" y="0"/>
                </a:lnTo>
                <a:lnTo>
                  <a:pt x="169455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146571" y="9531439"/>
            <a:ext cx="2483292" cy="1324222"/>
          </a:xfrm>
          <a:custGeom>
            <a:avLst/>
            <a:gdLst/>
            <a:ahLst/>
            <a:cxnLst/>
            <a:rect r="r" b="b" t="t" l="l"/>
            <a:pathLst>
              <a:path h="1324222" w="2483292">
                <a:moveTo>
                  <a:pt x="0" y="0"/>
                </a:moveTo>
                <a:lnTo>
                  <a:pt x="2483292" y="0"/>
                </a:lnTo>
                <a:lnTo>
                  <a:pt x="2483292" y="1324223"/>
                </a:lnTo>
                <a:lnTo>
                  <a:pt x="0" y="132422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-10209537">
            <a:off x="14026850" y="-3520368"/>
            <a:ext cx="6863334" cy="5881426"/>
          </a:xfrm>
          <a:custGeom>
            <a:avLst/>
            <a:gdLst/>
            <a:ahLst/>
            <a:cxnLst/>
            <a:rect r="r" b="b" t="t" l="l"/>
            <a:pathLst>
              <a:path h="5881426" w="6863334">
                <a:moveTo>
                  <a:pt x="6863334" y="0"/>
                </a:moveTo>
                <a:lnTo>
                  <a:pt x="0" y="0"/>
                </a:lnTo>
                <a:lnTo>
                  <a:pt x="0" y="5881427"/>
                </a:lnTo>
                <a:lnTo>
                  <a:pt x="6863334" y="5881427"/>
                </a:lnTo>
                <a:lnTo>
                  <a:pt x="686333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5587429">
            <a:off x="-1724223" y="-2557377"/>
            <a:ext cx="5289973" cy="5109779"/>
          </a:xfrm>
          <a:custGeom>
            <a:avLst/>
            <a:gdLst/>
            <a:ahLst/>
            <a:cxnLst/>
            <a:rect r="r" b="b" t="t" l="l"/>
            <a:pathLst>
              <a:path h="5109779" w="5289973">
                <a:moveTo>
                  <a:pt x="0" y="0"/>
                </a:moveTo>
                <a:lnTo>
                  <a:pt x="5289972" y="0"/>
                </a:lnTo>
                <a:lnTo>
                  <a:pt x="5289972" y="5109779"/>
                </a:lnTo>
                <a:lnTo>
                  <a:pt x="0" y="5109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10734599">
            <a:off x="3549481" y="-3076798"/>
            <a:ext cx="4844329" cy="4114800"/>
          </a:xfrm>
          <a:custGeom>
            <a:avLst/>
            <a:gdLst/>
            <a:ahLst/>
            <a:cxnLst/>
            <a:rect r="r" b="b" t="t" l="l"/>
            <a:pathLst>
              <a:path h="4114800" w="4844329">
                <a:moveTo>
                  <a:pt x="4844329" y="0"/>
                </a:moveTo>
                <a:lnTo>
                  <a:pt x="0" y="0"/>
                </a:lnTo>
                <a:lnTo>
                  <a:pt x="0" y="4114800"/>
                </a:lnTo>
                <a:lnTo>
                  <a:pt x="4844329" y="4114800"/>
                </a:lnTo>
                <a:lnTo>
                  <a:pt x="4844329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true" rot="10734599">
            <a:off x="7407947" y="-3168142"/>
            <a:ext cx="6729198" cy="4114800"/>
          </a:xfrm>
          <a:custGeom>
            <a:avLst/>
            <a:gdLst/>
            <a:ahLst/>
            <a:cxnLst/>
            <a:rect r="r" b="b" t="t" l="l"/>
            <a:pathLst>
              <a:path h="4114800" w="6729198">
                <a:moveTo>
                  <a:pt x="0" y="4114800"/>
                </a:moveTo>
                <a:lnTo>
                  <a:pt x="6729199" y="4114800"/>
                </a:lnTo>
                <a:lnTo>
                  <a:pt x="6729199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10734599">
            <a:off x="16306976" y="-1033801"/>
            <a:ext cx="1694549" cy="2057400"/>
          </a:xfrm>
          <a:custGeom>
            <a:avLst/>
            <a:gdLst/>
            <a:ahLst/>
            <a:cxnLst/>
            <a:rect r="r" b="b" t="t" l="l"/>
            <a:pathLst>
              <a:path h="2057400" w="1694549">
                <a:moveTo>
                  <a:pt x="0" y="0"/>
                </a:moveTo>
                <a:lnTo>
                  <a:pt x="1694550" y="0"/>
                </a:lnTo>
                <a:lnTo>
                  <a:pt x="169455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10734599">
            <a:off x="9556016" y="-452802"/>
            <a:ext cx="2483292" cy="1324222"/>
          </a:xfrm>
          <a:custGeom>
            <a:avLst/>
            <a:gdLst/>
            <a:ahLst/>
            <a:cxnLst/>
            <a:rect r="r" b="b" t="t" l="l"/>
            <a:pathLst>
              <a:path h="1324222" w="2483292">
                <a:moveTo>
                  <a:pt x="0" y="0"/>
                </a:moveTo>
                <a:lnTo>
                  <a:pt x="2483293" y="0"/>
                </a:lnTo>
                <a:lnTo>
                  <a:pt x="2483293" y="1324223"/>
                </a:lnTo>
                <a:lnTo>
                  <a:pt x="0" y="132422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3694423" y="-2436222"/>
            <a:ext cx="2277223" cy="2833649"/>
          </a:xfrm>
          <a:custGeom>
            <a:avLst/>
            <a:gdLst/>
            <a:ahLst/>
            <a:cxnLst/>
            <a:rect r="r" b="b" t="t" l="l"/>
            <a:pathLst>
              <a:path h="2833649" w="2277223">
                <a:moveTo>
                  <a:pt x="0" y="0"/>
                </a:moveTo>
                <a:lnTo>
                  <a:pt x="2277223" y="0"/>
                </a:lnTo>
                <a:lnTo>
                  <a:pt x="2277223" y="2833649"/>
                </a:lnTo>
                <a:lnTo>
                  <a:pt x="0" y="283364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0393908" y="9531439"/>
            <a:ext cx="2277223" cy="2833649"/>
          </a:xfrm>
          <a:custGeom>
            <a:avLst/>
            <a:gdLst/>
            <a:ahLst/>
            <a:cxnLst/>
            <a:rect r="r" b="b" t="t" l="l"/>
            <a:pathLst>
              <a:path h="2833649" w="2277223">
                <a:moveTo>
                  <a:pt x="0" y="0"/>
                </a:moveTo>
                <a:lnTo>
                  <a:pt x="2277223" y="0"/>
                </a:lnTo>
                <a:lnTo>
                  <a:pt x="2277223" y="2833649"/>
                </a:lnTo>
                <a:lnTo>
                  <a:pt x="0" y="2833649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3858754" y="3995084"/>
            <a:ext cx="11369783" cy="44182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9"/>
              </a:lnSpc>
            </a:pPr>
            <a:r>
              <a:rPr lang="en-US" sz="2529">
                <a:solidFill>
                  <a:srgbClr val="5A3831"/>
                </a:solidFill>
                <a:latin typeface="Grand Cru M"/>
                <a:ea typeface="Grand Cru M"/>
                <a:cs typeface="Grand Cru M"/>
                <a:sym typeface="Grand Cru M"/>
              </a:rPr>
              <a:t>Original Study:</a:t>
            </a:r>
          </a:p>
          <a:p>
            <a:pPr algn="l">
              <a:lnSpc>
                <a:spcPts val="2529"/>
              </a:lnSpc>
            </a:pPr>
          </a:p>
          <a:p>
            <a:pPr algn="l" marL="546079" indent="-273040" lvl="1">
              <a:lnSpc>
                <a:spcPts val="2529"/>
              </a:lnSpc>
              <a:buFont typeface="Arial"/>
              <a:buChar char="•"/>
            </a:pPr>
            <a:r>
              <a:rPr lang="en-US" sz="2529">
                <a:solidFill>
                  <a:srgbClr val="5A3831"/>
                </a:solidFill>
                <a:latin typeface="Grand Cru M"/>
                <a:ea typeface="Grand Cru M"/>
                <a:cs typeface="Grand Cru M"/>
                <a:sym typeface="Grand Cru M"/>
              </a:rPr>
              <a:t>Food Type: Bread</a:t>
            </a:r>
          </a:p>
          <a:p>
            <a:pPr algn="l" marL="546079" indent="-273040" lvl="1">
              <a:lnSpc>
                <a:spcPts val="2529"/>
              </a:lnSpc>
              <a:buFont typeface="Arial"/>
              <a:buChar char="•"/>
            </a:pPr>
            <a:r>
              <a:rPr lang="en-US" sz="2529">
                <a:solidFill>
                  <a:srgbClr val="5A3831"/>
                </a:solidFill>
                <a:latin typeface="Grand Cru M"/>
                <a:ea typeface="Grand Cru M"/>
                <a:cs typeface="Grand Cru M"/>
                <a:sym typeface="Grand Cru M"/>
              </a:rPr>
              <a:t>Camera Used: Thermal Camera</a:t>
            </a:r>
          </a:p>
          <a:p>
            <a:pPr algn="l" marL="546079" indent="-273040" lvl="1">
              <a:lnSpc>
                <a:spcPts val="2529"/>
              </a:lnSpc>
              <a:buFont typeface="Arial"/>
              <a:buChar char="•"/>
            </a:pPr>
            <a:r>
              <a:rPr lang="en-US" sz="2529">
                <a:solidFill>
                  <a:srgbClr val="5A3831"/>
                </a:solidFill>
                <a:latin typeface="Grand Cru M"/>
                <a:ea typeface="Grand Cru M"/>
                <a:cs typeface="Grand Cru M"/>
                <a:sym typeface="Grand Cru M"/>
              </a:rPr>
              <a:t>Feature Extracted: Temperature Patterns</a:t>
            </a:r>
          </a:p>
          <a:p>
            <a:pPr algn="l" marL="546079" indent="-273040" lvl="1">
              <a:lnSpc>
                <a:spcPts val="2529"/>
              </a:lnSpc>
              <a:buFont typeface="Arial"/>
              <a:buChar char="•"/>
            </a:pPr>
            <a:r>
              <a:rPr lang="en-US" sz="2529">
                <a:solidFill>
                  <a:srgbClr val="5A3831"/>
                </a:solidFill>
                <a:latin typeface="Grand Cru M"/>
                <a:ea typeface="Grand Cru M"/>
                <a:cs typeface="Grand Cru M"/>
                <a:sym typeface="Grand Cru M"/>
              </a:rPr>
              <a:t>Model Used: YOLOv11n</a:t>
            </a:r>
          </a:p>
          <a:p>
            <a:pPr algn="l">
              <a:lnSpc>
                <a:spcPts val="2529"/>
              </a:lnSpc>
            </a:pPr>
          </a:p>
          <a:p>
            <a:pPr algn="l">
              <a:lnSpc>
                <a:spcPts val="2529"/>
              </a:lnSpc>
            </a:pPr>
            <a:r>
              <a:rPr lang="en-US" sz="2529">
                <a:solidFill>
                  <a:srgbClr val="5A3831"/>
                </a:solidFill>
                <a:latin typeface="Grand Cru M"/>
                <a:ea typeface="Grand Cru M"/>
                <a:cs typeface="Grand Cru M"/>
                <a:sym typeface="Grand Cru M"/>
              </a:rPr>
              <a:t>Our Project:</a:t>
            </a:r>
          </a:p>
          <a:p>
            <a:pPr algn="l">
              <a:lnSpc>
                <a:spcPts val="2529"/>
              </a:lnSpc>
            </a:pPr>
          </a:p>
          <a:p>
            <a:pPr algn="l" marL="546079" indent="-273040" lvl="1">
              <a:lnSpc>
                <a:spcPts val="2529"/>
              </a:lnSpc>
              <a:buFont typeface="Arial"/>
              <a:buChar char="•"/>
            </a:pPr>
            <a:r>
              <a:rPr lang="en-US" sz="2529">
                <a:solidFill>
                  <a:srgbClr val="5A3831"/>
                </a:solidFill>
                <a:latin typeface="Grand Cru M"/>
                <a:ea typeface="Grand Cru M"/>
                <a:cs typeface="Grand Cru M"/>
                <a:sym typeface="Grand Cru M"/>
              </a:rPr>
              <a:t>Food Type: Paneer</a:t>
            </a:r>
          </a:p>
          <a:p>
            <a:pPr algn="l" marL="546079" indent="-273040" lvl="1">
              <a:lnSpc>
                <a:spcPts val="2529"/>
              </a:lnSpc>
              <a:buFont typeface="Arial"/>
              <a:buChar char="•"/>
            </a:pPr>
            <a:r>
              <a:rPr lang="en-US" sz="2529">
                <a:solidFill>
                  <a:srgbClr val="5A3831"/>
                </a:solidFill>
                <a:latin typeface="Grand Cru M"/>
                <a:ea typeface="Grand Cru M"/>
                <a:cs typeface="Grand Cru M"/>
                <a:sym typeface="Grand Cru M"/>
              </a:rPr>
              <a:t>Camera Used: Hyperspectral Camera (80 Bands)</a:t>
            </a:r>
          </a:p>
          <a:p>
            <a:pPr algn="l" marL="546079" indent="-273040" lvl="1">
              <a:lnSpc>
                <a:spcPts val="2529"/>
              </a:lnSpc>
              <a:buFont typeface="Arial"/>
              <a:buChar char="•"/>
            </a:pPr>
            <a:r>
              <a:rPr lang="en-US" sz="2529">
                <a:solidFill>
                  <a:srgbClr val="5A3831"/>
                </a:solidFill>
                <a:latin typeface="Grand Cru M"/>
                <a:ea typeface="Grand Cru M"/>
                <a:cs typeface="Grand Cru M"/>
                <a:sym typeface="Grand Cru M"/>
              </a:rPr>
              <a:t>Feature Extracted: Spectral Reflectance</a:t>
            </a:r>
          </a:p>
          <a:p>
            <a:pPr algn="l" marL="546079" indent="-273040" lvl="1">
              <a:lnSpc>
                <a:spcPts val="2529"/>
              </a:lnSpc>
              <a:buFont typeface="Arial"/>
              <a:buChar char="•"/>
            </a:pPr>
            <a:r>
              <a:rPr lang="en-US" sz="2529">
                <a:solidFill>
                  <a:srgbClr val="5A3831"/>
                </a:solidFill>
                <a:latin typeface="Grand Cru M"/>
                <a:ea typeface="Grand Cru M"/>
                <a:cs typeface="Grand Cru M"/>
                <a:sym typeface="Grand Cru M"/>
              </a:rPr>
              <a:t>Model Used: YOLOv11n (Same as Original Study)</a:t>
            </a:r>
          </a:p>
          <a:p>
            <a:pPr algn="l">
              <a:lnSpc>
                <a:spcPts val="2529"/>
              </a:lnSpc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2438177" y="2452151"/>
            <a:ext cx="13411646" cy="961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70"/>
              </a:lnSpc>
            </a:pPr>
            <a:r>
              <a:rPr lang="en-US" sz="6700">
                <a:solidFill>
                  <a:srgbClr val="5A3831"/>
                </a:solidFill>
                <a:latin typeface="Grand Cru M"/>
                <a:ea typeface="Grand Cru M"/>
                <a:cs typeface="Grand Cru M"/>
                <a:sym typeface="Grand Cru M"/>
              </a:rPr>
              <a:t>Our Adaptation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EB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655863">
            <a:off x="-2718108" y="7914948"/>
            <a:ext cx="6863334" cy="5881426"/>
          </a:xfrm>
          <a:custGeom>
            <a:avLst/>
            <a:gdLst/>
            <a:ahLst/>
            <a:cxnLst/>
            <a:rect r="r" b="b" t="t" l="l"/>
            <a:pathLst>
              <a:path h="5881426" w="6863334">
                <a:moveTo>
                  <a:pt x="6863335" y="0"/>
                </a:moveTo>
                <a:lnTo>
                  <a:pt x="0" y="0"/>
                </a:lnTo>
                <a:lnTo>
                  <a:pt x="0" y="5881427"/>
                </a:lnTo>
                <a:lnTo>
                  <a:pt x="6863335" y="5881427"/>
                </a:lnTo>
                <a:lnTo>
                  <a:pt x="6863335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277970">
            <a:off x="14614314" y="8038309"/>
            <a:ext cx="5289973" cy="5109779"/>
          </a:xfrm>
          <a:custGeom>
            <a:avLst/>
            <a:gdLst/>
            <a:ahLst/>
            <a:cxnLst/>
            <a:rect r="r" b="b" t="t" l="l"/>
            <a:pathLst>
              <a:path h="5109779" w="5289973">
                <a:moveTo>
                  <a:pt x="0" y="0"/>
                </a:moveTo>
                <a:lnTo>
                  <a:pt x="5289972" y="0"/>
                </a:lnTo>
                <a:lnTo>
                  <a:pt x="5289972" y="5109779"/>
                </a:lnTo>
                <a:lnTo>
                  <a:pt x="0" y="5109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9767822" y="9456441"/>
            <a:ext cx="4844329" cy="4114800"/>
          </a:xfrm>
          <a:custGeom>
            <a:avLst/>
            <a:gdLst/>
            <a:ahLst/>
            <a:cxnLst/>
            <a:rect r="r" b="b" t="t" l="l"/>
            <a:pathLst>
              <a:path h="4114800" w="4844329">
                <a:moveTo>
                  <a:pt x="4844329" y="0"/>
                </a:moveTo>
                <a:lnTo>
                  <a:pt x="0" y="0"/>
                </a:lnTo>
                <a:lnTo>
                  <a:pt x="0" y="4114800"/>
                </a:lnTo>
                <a:lnTo>
                  <a:pt x="4844329" y="4114800"/>
                </a:lnTo>
                <a:lnTo>
                  <a:pt x="4844329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4023618" y="9456441"/>
            <a:ext cx="6729198" cy="4114800"/>
          </a:xfrm>
          <a:custGeom>
            <a:avLst/>
            <a:gdLst/>
            <a:ahLst/>
            <a:cxnLst/>
            <a:rect r="r" b="b" t="t" l="l"/>
            <a:pathLst>
              <a:path h="4114800" w="6729198">
                <a:moveTo>
                  <a:pt x="0" y="4114800"/>
                </a:moveTo>
                <a:lnTo>
                  <a:pt x="6729198" y="4114800"/>
                </a:lnTo>
                <a:lnTo>
                  <a:pt x="6729198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81425" y="9258300"/>
            <a:ext cx="1694549" cy="2057400"/>
          </a:xfrm>
          <a:custGeom>
            <a:avLst/>
            <a:gdLst/>
            <a:ahLst/>
            <a:cxnLst/>
            <a:rect r="r" b="b" t="t" l="l"/>
            <a:pathLst>
              <a:path h="2057400" w="1694549">
                <a:moveTo>
                  <a:pt x="0" y="0"/>
                </a:moveTo>
                <a:lnTo>
                  <a:pt x="1694550" y="0"/>
                </a:lnTo>
                <a:lnTo>
                  <a:pt x="169455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146571" y="9531439"/>
            <a:ext cx="2483292" cy="1324222"/>
          </a:xfrm>
          <a:custGeom>
            <a:avLst/>
            <a:gdLst/>
            <a:ahLst/>
            <a:cxnLst/>
            <a:rect r="r" b="b" t="t" l="l"/>
            <a:pathLst>
              <a:path h="1324222" w="2483292">
                <a:moveTo>
                  <a:pt x="0" y="0"/>
                </a:moveTo>
                <a:lnTo>
                  <a:pt x="2483292" y="0"/>
                </a:lnTo>
                <a:lnTo>
                  <a:pt x="2483292" y="1324223"/>
                </a:lnTo>
                <a:lnTo>
                  <a:pt x="0" y="132422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-10209537">
            <a:off x="14026850" y="-3520368"/>
            <a:ext cx="6863334" cy="5881426"/>
          </a:xfrm>
          <a:custGeom>
            <a:avLst/>
            <a:gdLst/>
            <a:ahLst/>
            <a:cxnLst/>
            <a:rect r="r" b="b" t="t" l="l"/>
            <a:pathLst>
              <a:path h="5881426" w="6863334">
                <a:moveTo>
                  <a:pt x="6863334" y="0"/>
                </a:moveTo>
                <a:lnTo>
                  <a:pt x="0" y="0"/>
                </a:lnTo>
                <a:lnTo>
                  <a:pt x="0" y="5881427"/>
                </a:lnTo>
                <a:lnTo>
                  <a:pt x="6863334" y="5881427"/>
                </a:lnTo>
                <a:lnTo>
                  <a:pt x="686333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5587429">
            <a:off x="-1724223" y="-2557377"/>
            <a:ext cx="5289973" cy="5109779"/>
          </a:xfrm>
          <a:custGeom>
            <a:avLst/>
            <a:gdLst/>
            <a:ahLst/>
            <a:cxnLst/>
            <a:rect r="r" b="b" t="t" l="l"/>
            <a:pathLst>
              <a:path h="5109779" w="5289973">
                <a:moveTo>
                  <a:pt x="0" y="0"/>
                </a:moveTo>
                <a:lnTo>
                  <a:pt x="5289972" y="0"/>
                </a:lnTo>
                <a:lnTo>
                  <a:pt x="5289972" y="5109779"/>
                </a:lnTo>
                <a:lnTo>
                  <a:pt x="0" y="5109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10734599">
            <a:off x="3549481" y="-3076798"/>
            <a:ext cx="4844329" cy="4114800"/>
          </a:xfrm>
          <a:custGeom>
            <a:avLst/>
            <a:gdLst/>
            <a:ahLst/>
            <a:cxnLst/>
            <a:rect r="r" b="b" t="t" l="l"/>
            <a:pathLst>
              <a:path h="4114800" w="4844329">
                <a:moveTo>
                  <a:pt x="4844329" y="0"/>
                </a:moveTo>
                <a:lnTo>
                  <a:pt x="0" y="0"/>
                </a:lnTo>
                <a:lnTo>
                  <a:pt x="0" y="4114800"/>
                </a:lnTo>
                <a:lnTo>
                  <a:pt x="4844329" y="4114800"/>
                </a:lnTo>
                <a:lnTo>
                  <a:pt x="4844329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true" rot="10734599">
            <a:off x="7407947" y="-3168142"/>
            <a:ext cx="6729198" cy="4114800"/>
          </a:xfrm>
          <a:custGeom>
            <a:avLst/>
            <a:gdLst/>
            <a:ahLst/>
            <a:cxnLst/>
            <a:rect r="r" b="b" t="t" l="l"/>
            <a:pathLst>
              <a:path h="4114800" w="6729198">
                <a:moveTo>
                  <a:pt x="0" y="4114800"/>
                </a:moveTo>
                <a:lnTo>
                  <a:pt x="6729199" y="4114800"/>
                </a:lnTo>
                <a:lnTo>
                  <a:pt x="6729199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10734599">
            <a:off x="16306976" y="-1033801"/>
            <a:ext cx="1694549" cy="2057400"/>
          </a:xfrm>
          <a:custGeom>
            <a:avLst/>
            <a:gdLst/>
            <a:ahLst/>
            <a:cxnLst/>
            <a:rect r="r" b="b" t="t" l="l"/>
            <a:pathLst>
              <a:path h="2057400" w="1694549">
                <a:moveTo>
                  <a:pt x="0" y="0"/>
                </a:moveTo>
                <a:lnTo>
                  <a:pt x="1694550" y="0"/>
                </a:lnTo>
                <a:lnTo>
                  <a:pt x="169455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10734599">
            <a:off x="9556016" y="-452802"/>
            <a:ext cx="2483292" cy="1324222"/>
          </a:xfrm>
          <a:custGeom>
            <a:avLst/>
            <a:gdLst/>
            <a:ahLst/>
            <a:cxnLst/>
            <a:rect r="r" b="b" t="t" l="l"/>
            <a:pathLst>
              <a:path h="1324222" w="2483292">
                <a:moveTo>
                  <a:pt x="0" y="0"/>
                </a:moveTo>
                <a:lnTo>
                  <a:pt x="2483293" y="0"/>
                </a:lnTo>
                <a:lnTo>
                  <a:pt x="2483293" y="1324223"/>
                </a:lnTo>
                <a:lnTo>
                  <a:pt x="0" y="132422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3694423" y="-2436222"/>
            <a:ext cx="2277223" cy="2833649"/>
          </a:xfrm>
          <a:custGeom>
            <a:avLst/>
            <a:gdLst/>
            <a:ahLst/>
            <a:cxnLst/>
            <a:rect r="r" b="b" t="t" l="l"/>
            <a:pathLst>
              <a:path h="2833649" w="2277223">
                <a:moveTo>
                  <a:pt x="0" y="0"/>
                </a:moveTo>
                <a:lnTo>
                  <a:pt x="2277223" y="0"/>
                </a:lnTo>
                <a:lnTo>
                  <a:pt x="2277223" y="2833649"/>
                </a:lnTo>
                <a:lnTo>
                  <a:pt x="0" y="283364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0393908" y="9531439"/>
            <a:ext cx="2277223" cy="2833649"/>
          </a:xfrm>
          <a:custGeom>
            <a:avLst/>
            <a:gdLst/>
            <a:ahLst/>
            <a:cxnLst/>
            <a:rect r="r" b="b" t="t" l="l"/>
            <a:pathLst>
              <a:path h="2833649" w="2277223">
                <a:moveTo>
                  <a:pt x="0" y="0"/>
                </a:moveTo>
                <a:lnTo>
                  <a:pt x="2277223" y="0"/>
                </a:lnTo>
                <a:lnTo>
                  <a:pt x="2277223" y="2833649"/>
                </a:lnTo>
                <a:lnTo>
                  <a:pt x="0" y="2833649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0095179" y="2962461"/>
            <a:ext cx="7925762" cy="5480080"/>
          </a:xfrm>
          <a:custGeom>
            <a:avLst/>
            <a:gdLst/>
            <a:ahLst/>
            <a:cxnLst/>
            <a:rect r="r" b="b" t="t" l="l"/>
            <a:pathLst>
              <a:path h="5480080" w="7925762">
                <a:moveTo>
                  <a:pt x="0" y="0"/>
                </a:moveTo>
                <a:lnTo>
                  <a:pt x="7925762" y="0"/>
                </a:lnTo>
                <a:lnTo>
                  <a:pt x="7925762" y="5480080"/>
                </a:lnTo>
                <a:lnTo>
                  <a:pt x="0" y="5480080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-20717" r="0" b="-2391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2005821" y="5554895"/>
            <a:ext cx="7934945" cy="3230129"/>
          </a:xfrm>
          <a:custGeom>
            <a:avLst/>
            <a:gdLst/>
            <a:ahLst/>
            <a:cxnLst/>
            <a:rect r="r" b="b" t="t" l="l"/>
            <a:pathLst>
              <a:path h="3230129" w="7934945">
                <a:moveTo>
                  <a:pt x="0" y="0"/>
                </a:moveTo>
                <a:lnTo>
                  <a:pt x="7934945" y="0"/>
                </a:lnTo>
                <a:lnTo>
                  <a:pt x="7934945" y="3230129"/>
                </a:lnTo>
                <a:lnTo>
                  <a:pt x="0" y="3230129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-67950" r="-842" b="-79773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552680" y="2124621"/>
            <a:ext cx="8841228" cy="3577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75"/>
              </a:lnSpc>
            </a:pPr>
            <a:r>
              <a:rPr lang="en-US" sz="2189">
                <a:solidFill>
                  <a:srgbClr val="5A3831"/>
                </a:solidFill>
                <a:latin typeface="Grand Cru M"/>
                <a:ea typeface="Grand Cru M"/>
                <a:cs typeface="Grand Cru M"/>
                <a:sym typeface="Grand Cru M"/>
              </a:rPr>
              <a:t>Steps Followed:</a:t>
            </a:r>
          </a:p>
          <a:p>
            <a:pPr algn="l">
              <a:lnSpc>
                <a:spcPts val="3175"/>
              </a:lnSpc>
            </a:pPr>
          </a:p>
          <a:p>
            <a:pPr algn="l">
              <a:lnSpc>
                <a:spcPts val="3175"/>
              </a:lnSpc>
            </a:pPr>
            <a:r>
              <a:rPr lang="en-US" sz="2189">
                <a:solidFill>
                  <a:srgbClr val="5A3831"/>
                </a:solidFill>
                <a:latin typeface="Grand Cru M"/>
                <a:ea typeface="Grand Cru M"/>
                <a:cs typeface="Grand Cru M"/>
                <a:sym typeface="Grand Cru M"/>
              </a:rPr>
              <a:t>1. Prepared 3 paneer types – Milkymist, Malai, Tofu.</a:t>
            </a:r>
          </a:p>
          <a:p>
            <a:pPr algn="l">
              <a:lnSpc>
                <a:spcPts val="3175"/>
              </a:lnSpc>
            </a:pPr>
            <a:r>
              <a:rPr lang="en-US" sz="2189">
                <a:solidFill>
                  <a:srgbClr val="5A3831"/>
                </a:solidFill>
                <a:latin typeface="Grand Cru M"/>
                <a:ea typeface="Grand Cru M"/>
                <a:cs typeface="Grand Cru M"/>
                <a:sym typeface="Grand Cru M"/>
              </a:rPr>
              <a:t>2. Applied 5 treatments: normal, acetic acid (3 &amp; 6 drops), hydrogen peroxide (3 &amp; 6 drops).</a:t>
            </a:r>
          </a:p>
          <a:p>
            <a:pPr algn="l">
              <a:lnSpc>
                <a:spcPts val="3175"/>
              </a:lnSpc>
            </a:pPr>
            <a:r>
              <a:rPr lang="en-US" sz="2189">
                <a:solidFill>
                  <a:srgbClr val="5A3831"/>
                </a:solidFill>
                <a:latin typeface="Grand Cru M"/>
                <a:ea typeface="Grand Cru M"/>
                <a:cs typeface="Grand Cru M"/>
                <a:sym typeface="Grand Cru M"/>
              </a:rPr>
              <a:t>3. Captured 140 HSI images (80 bands each).</a:t>
            </a:r>
          </a:p>
          <a:p>
            <a:pPr algn="l">
              <a:lnSpc>
                <a:spcPts val="3175"/>
              </a:lnSpc>
            </a:pPr>
            <a:r>
              <a:rPr lang="en-US" sz="2189">
                <a:solidFill>
                  <a:srgbClr val="5A3831"/>
                </a:solidFill>
                <a:latin typeface="Grand Cru M"/>
                <a:ea typeface="Grand Cru M"/>
                <a:cs typeface="Grand Cru M"/>
                <a:sym typeface="Grand Cru M"/>
              </a:rPr>
              <a:t>4. Processed images using spectral library in Google Colab.</a:t>
            </a:r>
          </a:p>
          <a:p>
            <a:pPr algn="l">
              <a:lnSpc>
                <a:spcPts val="3175"/>
              </a:lnSpc>
            </a:pPr>
            <a:r>
              <a:rPr lang="en-US" sz="2189">
                <a:solidFill>
                  <a:srgbClr val="5A3831"/>
                </a:solidFill>
                <a:latin typeface="Grand Cru M"/>
                <a:ea typeface="Grand Cru M"/>
                <a:cs typeface="Grand Cru M"/>
                <a:sym typeface="Grand Cru M"/>
              </a:rPr>
              <a:t>5. Visualized reflectance and pseudo-RGB images.</a:t>
            </a:r>
          </a:p>
          <a:p>
            <a:pPr algn="l">
              <a:lnSpc>
                <a:spcPts val="3175"/>
              </a:lnSpc>
            </a:pPr>
          </a:p>
        </p:txBody>
      </p:sp>
      <p:sp>
        <p:nvSpPr>
          <p:cNvPr name="TextBox 19" id="19"/>
          <p:cNvSpPr txBox="true"/>
          <p:nvPr/>
        </p:nvSpPr>
        <p:spPr>
          <a:xfrm rot="0">
            <a:off x="2438177" y="766087"/>
            <a:ext cx="13411646" cy="961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70"/>
              </a:lnSpc>
            </a:pPr>
            <a:r>
              <a:rPr lang="en-US" sz="6700">
                <a:solidFill>
                  <a:srgbClr val="5A3831"/>
                </a:solidFill>
                <a:latin typeface="Grand Cru M"/>
                <a:ea typeface="Grand Cru M"/>
                <a:cs typeface="Grand Cru M"/>
                <a:sym typeface="Grand Cru M"/>
              </a:rPr>
              <a:t>Methodology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EB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655863">
            <a:off x="-2718108" y="7914948"/>
            <a:ext cx="6863334" cy="5881426"/>
          </a:xfrm>
          <a:custGeom>
            <a:avLst/>
            <a:gdLst/>
            <a:ahLst/>
            <a:cxnLst/>
            <a:rect r="r" b="b" t="t" l="l"/>
            <a:pathLst>
              <a:path h="5881426" w="6863334">
                <a:moveTo>
                  <a:pt x="6863335" y="0"/>
                </a:moveTo>
                <a:lnTo>
                  <a:pt x="0" y="0"/>
                </a:lnTo>
                <a:lnTo>
                  <a:pt x="0" y="5881427"/>
                </a:lnTo>
                <a:lnTo>
                  <a:pt x="6863335" y="5881427"/>
                </a:lnTo>
                <a:lnTo>
                  <a:pt x="6863335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277970">
            <a:off x="14614314" y="8038309"/>
            <a:ext cx="5289973" cy="5109779"/>
          </a:xfrm>
          <a:custGeom>
            <a:avLst/>
            <a:gdLst/>
            <a:ahLst/>
            <a:cxnLst/>
            <a:rect r="r" b="b" t="t" l="l"/>
            <a:pathLst>
              <a:path h="5109779" w="5289973">
                <a:moveTo>
                  <a:pt x="0" y="0"/>
                </a:moveTo>
                <a:lnTo>
                  <a:pt x="5289972" y="0"/>
                </a:lnTo>
                <a:lnTo>
                  <a:pt x="5289972" y="5109779"/>
                </a:lnTo>
                <a:lnTo>
                  <a:pt x="0" y="5109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9767822" y="9456441"/>
            <a:ext cx="4844329" cy="4114800"/>
          </a:xfrm>
          <a:custGeom>
            <a:avLst/>
            <a:gdLst/>
            <a:ahLst/>
            <a:cxnLst/>
            <a:rect r="r" b="b" t="t" l="l"/>
            <a:pathLst>
              <a:path h="4114800" w="4844329">
                <a:moveTo>
                  <a:pt x="4844329" y="0"/>
                </a:moveTo>
                <a:lnTo>
                  <a:pt x="0" y="0"/>
                </a:lnTo>
                <a:lnTo>
                  <a:pt x="0" y="4114800"/>
                </a:lnTo>
                <a:lnTo>
                  <a:pt x="4844329" y="4114800"/>
                </a:lnTo>
                <a:lnTo>
                  <a:pt x="4844329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4023618" y="9456441"/>
            <a:ext cx="6729198" cy="4114800"/>
          </a:xfrm>
          <a:custGeom>
            <a:avLst/>
            <a:gdLst/>
            <a:ahLst/>
            <a:cxnLst/>
            <a:rect r="r" b="b" t="t" l="l"/>
            <a:pathLst>
              <a:path h="4114800" w="6729198">
                <a:moveTo>
                  <a:pt x="0" y="4114800"/>
                </a:moveTo>
                <a:lnTo>
                  <a:pt x="6729198" y="4114800"/>
                </a:lnTo>
                <a:lnTo>
                  <a:pt x="6729198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81425" y="9258300"/>
            <a:ext cx="1694549" cy="2057400"/>
          </a:xfrm>
          <a:custGeom>
            <a:avLst/>
            <a:gdLst/>
            <a:ahLst/>
            <a:cxnLst/>
            <a:rect r="r" b="b" t="t" l="l"/>
            <a:pathLst>
              <a:path h="2057400" w="1694549">
                <a:moveTo>
                  <a:pt x="0" y="0"/>
                </a:moveTo>
                <a:lnTo>
                  <a:pt x="1694550" y="0"/>
                </a:lnTo>
                <a:lnTo>
                  <a:pt x="169455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146571" y="9531439"/>
            <a:ext cx="2483292" cy="1324222"/>
          </a:xfrm>
          <a:custGeom>
            <a:avLst/>
            <a:gdLst/>
            <a:ahLst/>
            <a:cxnLst/>
            <a:rect r="r" b="b" t="t" l="l"/>
            <a:pathLst>
              <a:path h="1324222" w="2483292">
                <a:moveTo>
                  <a:pt x="0" y="0"/>
                </a:moveTo>
                <a:lnTo>
                  <a:pt x="2483292" y="0"/>
                </a:lnTo>
                <a:lnTo>
                  <a:pt x="2483292" y="1324223"/>
                </a:lnTo>
                <a:lnTo>
                  <a:pt x="0" y="132422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-10209537">
            <a:off x="14026850" y="-3520368"/>
            <a:ext cx="6863334" cy="5881426"/>
          </a:xfrm>
          <a:custGeom>
            <a:avLst/>
            <a:gdLst/>
            <a:ahLst/>
            <a:cxnLst/>
            <a:rect r="r" b="b" t="t" l="l"/>
            <a:pathLst>
              <a:path h="5881426" w="6863334">
                <a:moveTo>
                  <a:pt x="6863334" y="0"/>
                </a:moveTo>
                <a:lnTo>
                  <a:pt x="0" y="0"/>
                </a:lnTo>
                <a:lnTo>
                  <a:pt x="0" y="5881427"/>
                </a:lnTo>
                <a:lnTo>
                  <a:pt x="6863334" y="5881427"/>
                </a:lnTo>
                <a:lnTo>
                  <a:pt x="686333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5587429">
            <a:off x="-1724223" y="-2557377"/>
            <a:ext cx="5289973" cy="5109779"/>
          </a:xfrm>
          <a:custGeom>
            <a:avLst/>
            <a:gdLst/>
            <a:ahLst/>
            <a:cxnLst/>
            <a:rect r="r" b="b" t="t" l="l"/>
            <a:pathLst>
              <a:path h="5109779" w="5289973">
                <a:moveTo>
                  <a:pt x="0" y="0"/>
                </a:moveTo>
                <a:lnTo>
                  <a:pt x="5289972" y="0"/>
                </a:lnTo>
                <a:lnTo>
                  <a:pt x="5289972" y="5109779"/>
                </a:lnTo>
                <a:lnTo>
                  <a:pt x="0" y="5109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10734599">
            <a:off x="3549481" y="-3076798"/>
            <a:ext cx="4844329" cy="4114800"/>
          </a:xfrm>
          <a:custGeom>
            <a:avLst/>
            <a:gdLst/>
            <a:ahLst/>
            <a:cxnLst/>
            <a:rect r="r" b="b" t="t" l="l"/>
            <a:pathLst>
              <a:path h="4114800" w="4844329">
                <a:moveTo>
                  <a:pt x="4844329" y="0"/>
                </a:moveTo>
                <a:lnTo>
                  <a:pt x="0" y="0"/>
                </a:lnTo>
                <a:lnTo>
                  <a:pt x="0" y="4114800"/>
                </a:lnTo>
                <a:lnTo>
                  <a:pt x="4844329" y="4114800"/>
                </a:lnTo>
                <a:lnTo>
                  <a:pt x="4844329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true" rot="10734599">
            <a:off x="7407947" y="-3168142"/>
            <a:ext cx="6729198" cy="4114800"/>
          </a:xfrm>
          <a:custGeom>
            <a:avLst/>
            <a:gdLst/>
            <a:ahLst/>
            <a:cxnLst/>
            <a:rect r="r" b="b" t="t" l="l"/>
            <a:pathLst>
              <a:path h="4114800" w="6729198">
                <a:moveTo>
                  <a:pt x="0" y="4114800"/>
                </a:moveTo>
                <a:lnTo>
                  <a:pt x="6729199" y="4114800"/>
                </a:lnTo>
                <a:lnTo>
                  <a:pt x="6729199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10734599">
            <a:off x="16306976" y="-1033801"/>
            <a:ext cx="1694549" cy="2057400"/>
          </a:xfrm>
          <a:custGeom>
            <a:avLst/>
            <a:gdLst/>
            <a:ahLst/>
            <a:cxnLst/>
            <a:rect r="r" b="b" t="t" l="l"/>
            <a:pathLst>
              <a:path h="2057400" w="1694549">
                <a:moveTo>
                  <a:pt x="0" y="0"/>
                </a:moveTo>
                <a:lnTo>
                  <a:pt x="1694550" y="0"/>
                </a:lnTo>
                <a:lnTo>
                  <a:pt x="169455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10734599">
            <a:off x="9556016" y="-452802"/>
            <a:ext cx="2483292" cy="1324222"/>
          </a:xfrm>
          <a:custGeom>
            <a:avLst/>
            <a:gdLst/>
            <a:ahLst/>
            <a:cxnLst/>
            <a:rect r="r" b="b" t="t" l="l"/>
            <a:pathLst>
              <a:path h="1324222" w="2483292">
                <a:moveTo>
                  <a:pt x="0" y="0"/>
                </a:moveTo>
                <a:lnTo>
                  <a:pt x="2483293" y="0"/>
                </a:lnTo>
                <a:lnTo>
                  <a:pt x="2483293" y="1324223"/>
                </a:lnTo>
                <a:lnTo>
                  <a:pt x="0" y="132422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3694423" y="-2436222"/>
            <a:ext cx="2277223" cy="2833649"/>
          </a:xfrm>
          <a:custGeom>
            <a:avLst/>
            <a:gdLst/>
            <a:ahLst/>
            <a:cxnLst/>
            <a:rect r="r" b="b" t="t" l="l"/>
            <a:pathLst>
              <a:path h="2833649" w="2277223">
                <a:moveTo>
                  <a:pt x="0" y="0"/>
                </a:moveTo>
                <a:lnTo>
                  <a:pt x="2277223" y="0"/>
                </a:lnTo>
                <a:lnTo>
                  <a:pt x="2277223" y="2833649"/>
                </a:lnTo>
                <a:lnTo>
                  <a:pt x="0" y="283364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0393908" y="9531439"/>
            <a:ext cx="2277223" cy="2833649"/>
          </a:xfrm>
          <a:custGeom>
            <a:avLst/>
            <a:gdLst/>
            <a:ahLst/>
            <a:cxnLst/>
            <a:rect r="r" b="b" t="t" l="l"/>
            <a:pathLst>
              <a:path h="2833649" w="2277223">
                <a:moveTo>
                  <a:pt x="0" y="0"/>
                </a:moveTo>
                <a:lnTo>
                  <a:pt x="2277223" y="0"/>
                </a:lnTo>
                <a:lnTo>
                  <a:pt x="2277223" y="2833649"/>
                </a:lnTo>
                <a:lnTo>
                  <a:pt x="0" y="2833649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Object 16" id="16"/>
          <p:cNvGraphicFramePr/>
          <p:nvPr/>
        </p:nvGraphicFramePr>
        <p:xfrm>
          <a:off x="1520826" y="4286578"/>
          <a:ext cx="11598794" cy="4032684"/>
        </p:xfrm>
        <a:graphic>
          <a:graphicData uri="http://schemas.openxmlformats.org/presentationml/2006/ole">
            <p:oleObj imgW="13906500" imgH="6350000" r:id="rId19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18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17" id="17"/>
          <p:cNvSpPr txBox="true"/>
          <p:nvPr/>
        </p:nvSpPr>
        <p:spPr>
          <a:xfrm rot="0">
            <a:off x="8797223" y="3746456"/>
            <a:ext cx="7490338" cy="5047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46079" indent="-273040" lvl="1">
              <a:lnSpc>
                <a:spcPts val="2529"/>
              </a:lnSpc>
              <a:buFont typeface="Arial"/>
              <a:buChar char="•"/>
            </a:pPr>
            <a:r>
              <a:rPr lang="en-US" sz="2529">
                <a:solidFill>
                  <a:srgbClr val="5A3831"/>
                </a:solidFill>
                <a:latin typeface="Grand Cru M"/>
                <a:ea typeface="Grand Cru M"/>
                <a:cs typeface="Grand Cru M"/>
                <a:sym typeface="Grand Cru M"/>
              </a:rPr>
              <a:t>Successfully visualized 140 hyperspectral images in Colab (25-Malai Paneer, 29-Tofu Paneer, 29-Natural Paneer)</a:t>
            </a:r>
          </a:p>
          <a:p>
            <a:pPr algn="l">
              <a:lnSpc>
                <a:spcPts val="2529"/>
              </a:lnSpc>
            </a:pPr>
          </a:p>
          <a:p>
            <a:pPr algn="l" marL="546079" indent="-273040" lvl="1">
              <a:lnSpc>
                <a:spcPts val="2529"/>
              </a:lnSpc>
              <a:buFont typeface="Arial"/>
              <a:buChar char="•"/>
            </a:pPr>
            <a:r>
              <a:rPr lang="en-US" sz="2529">
                <a:solidFill>
                  <a:srgbClr val="5A3831"/>
                </a:solidFill>
                <a:latin typeface="Grand Cru M"/>
                <a:ea typeface="Grand Cru M"/>
                <a:cs typeface="Grand Cru M"/>
                <a:sym typeface="Grand Cru M"/>
              </a:rPr>
              <a:t>Observed clear differences between normal and treated samples.</a:t>
            </a:r>
          </a:p>
          <a:p>
            <a:pPr algn="l">
              <a:lnSpc>
                <a:spcPts val="2529"/>
              </a:lnSpc>
            </a:pPr>
          </a:p>
          <a:p>
            <a:pPr algn="l" marL="546079" indent="-273040" lvl="1">
              <a:lnSpc>
                <a:spcPts val="2529"/>
              </a:lnSpc>
              <a:buFont typeface="Arial"/>
              <a:buChar char="•"/>
            </a:pPr>
            <a:r>
              <a:rPr lang="en-US" sz="2529">
                <a:solidFill>
                  <a:srgbClr val="5A3831"/>
                </a:solidFill>
                <a:latin typeface="Grand Cru M"/>
                <a:ea typeface="Grand Cru M"/>
                <a:cs typeface="Grand Cru M"/>
                <a:sym typeface="Grand Cru M"/>
              </a:rPr>
              <a:t>Bands 40–60 showed the strongest reflectance variation.</a:t>
            </a:r>
          </a:p>
          <a:p>
            <a:pPr algn="l">
              <a:lnSpc>
                <a:spcPts val="2529"/>
              </a:lnSpc>
            </a:pPr>
          </a:p>
          <a:p>
            <a:pPr algn="l" marL="546079" indent="-273040" lvl="1">
              <a:lnSpc>
                <a:spcPts val="2529"/>
              </a:lnSpc>
              <a:buFont typeface="Arial"/>
              <a:buChar char="•"/>
            </a:pPr>
            <a:r>
              <a:rPr lang="en-US" sz="2529">
                <a:solidFill>
                  <a:srgbClr val="5A3831"/>
                </a:solidFill>
                <a:latin typeface="Grand Cru M"/>
                <a:ea typeface="Grand Cru M"/>
                <a:cs typeface="Grand Cru M"/>
                <a:sym typeface="Grand Cru M"/>
              </a:rPr>
              <a:t>Acid-treated cubes: darker spectral regions (lower reflectance).</a:t>
            </a:r>
          </a:p>
          <a:p>
            <a:pPr algn="l">
              <a:lnSpc>
                <a:spcPts val="2529"/>
              </a:lnSpc>
            </a:pPr>
          </a:p>
          <a:p>
            <a:pPr algn="l" marL="546079" indent="-273040" lvl="1">
              <a:lnSpc>
                <a:spcPts val="2529"/>
              </a:lnSpc>
              <a:buFont typeface="Arial"/>
              <a:buChar char="•"/>
            </a:pPr>
            <a:r>
              <a:rPr lang="en-US" sz="2529">
                <a:solidFill>
                  <a:srgbClr val="5A3831"/>
                </a:solidFill>
                <a:latin typeface="Grand Cru M"/>
                <a:ea typeface="Grand Cru M"/>
                <a:cs typeface="Grand Cru M"/>
                <a:sym typeface="Grand Cru M"/>
              </a:rPr>
              <a:t>Peroxide-treated cubes: brighter spectral zones (higher reflectance).</a:t>
            </a:r>
          </a:p>
          <a:p>
            <a:pPr algn="l">
              <a:lnSpc>
                <a:spcPts val="2529"/>
              </a:lnSpc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2438177" y="1299818"/>
            <a:ext cx="13411646" cy="1894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70"/>
              </a:lnSpc>
            </a:pPr>
            <a:r>
              <a:rPr lang="en-US" sz="6700">
                <a:solidFill>
                  <a:srgbClr val="5A3831"/>
                </a:solidFill>
                <a:latin typeface="Grand Cru M"/>
                <a:ea typeface="Grand Cru M"/>
                <a:cs typeface="Grand Cru M"/>
                <a:sym typeface="Grand Cru M"/>
              </a:rPr>
              <a:t> </a:t>
            </a:r>
            <a:r>
              <a:rPr lang="en-US" sz="6700">
                <a:solidFill>
                  <a:srgbClr val="5A3831"/>
                </a:solidFill>
                <a:latin typeface="Grand Cru M"/>
                <a:ea typeface="Grand Cru M"/>
                <a:cs typeface="Grand Cru M"/>
                <a:sym typeface="Grand Cru M"/>
              </a:rPr>
              <a:t>Results – Visualization &amp; Findings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EB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-10209537">
            <a:off x="14026850" y="-3520368"/>
            <a:ext cx="6863334" cy="5881426"/>
          </a:xfrm>
          <a:custGeom>
            <a:avLst/>
            <a:gdLst/>
            <a:ahLst/>
            <a:cxnLst/>
            <a:rect r="r" b="b" t="t" l="l"/>
            <a:pathLst>
              <a:path h="5881426" w="6863334">
                <a:moveTo>
                  <a:pt x="6863334" y="0"/>
                </a:moveTo>
                <a:lnTo>
                  <a:pt x="0" y="0"/>
                </a:lnTo>
                <a:lnTo>
                  <a:pt x="0" y="5881427"/>
                </a:lnTo>
                <a:lnTo>
                  <a:pt x="6863334" y="5881427"/>
                </a:lnTo>
                <a:lnTo>
                  <a:pt x="686333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587429">
            <a:off x="-1724223" y="-2557377"/>
            <a:ext cx="5289973" cy="5109779"/>
          </a:xfrm>
          <a:custGeom>
            <a:avLst/>
            <a:gdLst/>
            <a:ahLst/>
            <a:cxnLst/>
            <a:rect r="r" b="b" t="t" l="l"/>
            <a:pathLst>
              <a:path h="5109779" w="5289973">
                <a:moveTo>
                  <a:pt x="0" y="0"/>
                </a:moveTo>
                <a:lnTo>
                  <a:pt x="5289972" y="0"/>
                </a:lnTo>
                <a:lnTo>
                  <a:pt x="5289972" y="5109779"/>
                </a:lnTo>
                <a:lnTo>
                  <a:pt x="0" y="5109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10734599">
            <a:off x="3549481" y="-3076798"/>
            <a:ext cx="4844329" cy="4114800"/>
          </a:xfrm>
          <a:custGeom>
            <a:avLst/>
            <a:gdLst/>
            <a:ahLst/>
            <a:cxnLst/>
            <a:rect r="r" b="b" t="t" l="l"/>
            <a:pathLst>
              <a:path h="4114800" w="4844329">
                <a:moveTo>
                  <a:pt x="4844329" y="0"/>
                </a:moveTo>
                <a:lnTo>
                  <a:pt x="0" y="0"/>
                </a:lnTo>
                <a:lnTo>
                  <a:pt x="0" y="4114800"/>
                </a:lnTo>
                <a:lnTo>
                  <a:pt x="4844329" y="4114800"/>
                </a:lnTo>
                <a:lnTo>
                  <a:pt x="4844329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10734599">
            <a:off x="7407947" y="-3168142"/>
            <a:ext cx="6729198" cy="4114800"/>
          </a:xfrm>
          <a:custGeom>
            <a:avLst/>
            <a:gdLst/>
            <a:ahLst/>
            <a:cxnLst/>
            <a:rect r="r" b="b" t="t" l="l"/>
            <a:pathLst>
              <a:path h="4114800" w="6729198">
                <a:moveTo>
                  <a:pt x="0" y="4114800"/>
                </a:moveTo>
                <a:lnTo>
                  <a:pt x="6729199" y="4114800"/>
                </a:lnTo>
                <a:lnTo>
                  <a:pt x="6729199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10734599">
            <a:off x="16306976" y="-1033801"/>
            <a:ext cx="1694549" cy="2057400"/>
          </a:xfrm>
          <a:custGeom>
            <a:avLst/>
            <a:gdLst/>
            <a:ahLst/>
            <a:cxnLst/>
            <a:rect r="r" b="b" t="t" l="l"/>
            <a:pathLst>
              <a:path h="2057400" w="1694549">
                <a:moveTo>
                  <a:pt x="0" y="0"/>
                </a:moveTo>
                <a:lnTo>
                  <a:pt x="1694550" y="0"/>
                </a:lnTo>
                <a:lnTo>
                  <a:pt x="169455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10734599">
            <a:off x="9556016" y="-452802"/>
            <a:ext cx="2483292" cy="1324222"/>
          </a:xfrm>
          <a:custGeom>
            <a:avLst/>
            <a:gdLst/>
            <a:ahLst/>
            <a:cxnLst/>
            <a:rect r="r" b="b" t="t" l="l"/>
            <a:pathLst>
              <a:path h="1324222" w="2483292">
                <a:moveTo>
                  <a:pt x="0" y="0"/>
                </a:moveTo>
                <a:lnTo>
                  <a:pt x="2483293" y="0"/>
                </a:lnTo>
                <a:lnTo>
                  <a:pt x="2483293" y="1324223"/>
                </a:lnTo>
                <a:lnTo>
                  <a:pt x="0" y="132422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3694423" y="-2436222"/>
            <a:ext cx="2277223" cy="2833649"/>
          </a:xfrm>
          <a:custGeom>
            <a:avLst/>
            <a:gdLst/>
            <a:ahLst/>
            <a:cxnLst/>
            <a:rect r="r" b="b" t="t" l="l"/>
            <a:pathLst>
              <a:path h="2833649" w="2277223">
                <a:moveTo>
                  <a:pt x="0" y="0"/>
                </a:moveTo>
                <a:lnTo>
                  <a:pt x="2277223" y="0"/>
                </a:lnTo>
                <a:lnTo>
                  <a:pt x="2277223" y="2833649"/>
                </a:lnTo>
                <a:lnTo>
                  <a:pt x="0" y="283364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4418844" y="1285316"/>
            <a:ext cx="2182710" cy="1983459"/>
          </a:xfrm>
          <a:custGeom>
            <a:avLst/>
            <a:gdLst/>
            <a:ahLst/>
            <a:cxnLst/>
            <a:rect r="r" b="b" t="t" l="l"/>
            <a:pathLst>
              <a:path h="1983459" w="2182710">
                <a:moveTo>
                  <a:pt x="0" y="0"/>
                </a:moveTo>
                <a:lnTo>
                  <a:pt x="2182710" y="0"/>
                </a:lnTo>
                <a:lnTo>
                  <a:pt x="2182710" y="1983459"/>
                </a:lnTo>
                <a:lnTo>
                  <a:pt x="0" y="1983459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2275162" y="1268150"/>
            <a:ext cx="2221234" cy="2071150"/>
          </a:xfrm>
          <a:custGeom>
            <a:avLst/>
            <a:gdLst/>
            <a:ahLst/>
            <a:cxnLst/>
            <a:rect r="r" b="b" t="t" l="l"/>
            <a:pathLst>
              <a:path h="2071150" w="2221234">
                <a:moveTo>
                  <a:pt x="0" y="0"/>
                </a:moveTo>
                <a:lnTo>
                  <a:pt x="2221233" y="0"/>
                </a:lnTo>
                <a:lnTo>
                  <a:pt x="2221233" y="2071150"/>
                </a:lnTo>
                <a:lnTo>
                  <a:pt x="0" y="2071150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7121490" y="1285316"/>
            <a:ext cx="2048137" cy="1983459"/>
          </a:xfrm>
          <a:custGeom>
            <a:avLst/>
            <a:gdLst/>
            <a:ahLst/>
            <a:cxnLst/>
            <a:rect r="r" b="b" t="t" l="l"/>
            <a:pathLst>
              <a:path h="1983459" w="2048137">
                <a:moveTo>
                  <a:pt x="0" y="0"/>
                </a:moveTo>
                <a:lnTo>
                  <a:pt x="2048137" y="0"/>
                </a:lnTo>
                <a:lnTo>
                  <a:pt x="2048137" y="1983459"/>
                </a:lnTo>
                <a:lnTo>
                  <a:pt x="0" y="1983459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9668909" y="1318521"/>
            <a:ext cx="2106970" cy="1970408"/>
          </a:xfrm>
          <a:custGeom>
            <a:avLst/>
            <a:gdLst/>
            <a:ahLst/>
            <a:cxnLst/>
            <a:rect r="r" b="b" t="t" l="l"/>
            <a:pathLst>
              <a:path h="1970408" w="2106970">
                <a:moveTo>
                  <a:pt x="0" y="0"/>
                </a:moveTo>
                <a:lnTo>
                  <a:pt x="2106971" y="0"/>
                </a:lnTo>
                <a:lnTo>
                  <a:pt x="2106971" y="1970407"/>
                </a:lnTo>
                <a:lnTo>
                  <a:pt x="0" y="1970407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4418844" y="4108320"/>
            <a:ext cx="2117087" cy="2087952"/>
          </a:xfrm>
          <a:custGeom>
            <a:avLst/>
            <a:gdLst/>
            <a:ahLst/>
            <a:cxnLst/>
            <a:rect r="r" b="b" t="t" l="l"/>
            <a:pathLst>
              <a:path h="2087952" w="2117087">
                <a:moveTo>
                  <a:pt x="0" y="0"/>
                </a:moveTo>
                <a:lnTo>
                  <a:pt x="2117087" y="0"/>
                </a:lnTo>
                <a:lnTo>
                  <a:pt x="2117087" y="2087952"/>
                </a:lnTo>
                <a:lnTo>
                  <a:pt x="0" y="2087952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2280311" y="4108320"/>
            <a:ext cx="2299130" cy="2070361"/>
          </a:xfrm>
          <a:custGeom>
            <a:avLst/>
            <a:gdLst/>
            <a:ahLst/>
            <a:cxnLst/>
            <a:rect r="r" b="b" t="t" l="l"/>
            <a:pathLst>
              <a:path h="2070361" w="2299130">
                <a:moveTo>
                  <a:pt x="0" y="0"/>
                </a:moveTo>
                <a:lnTo>
                  <a:pt x="2299130" y="0"/>
                </a:lnTo>
                <a:lnTo>
                  <a:pt x="2299130" y="2070360"/>
                </a:lnTo>
                <a:lnTo>
                  <a:pt x="0" y="2070360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9607777" y="4108320"/>
            <a:ext cx="2230812" cy="2087952"/>
          </a:xfrm>
          <a:custGeom>
            <a:avLst/>
            <a:gdLst/>
            <a:ahLst/>
            <a:cxnLst/>
            <a:rect r="r" b="b" t="t" l="l"/>
            <a:pathLst>
              <a:path h="2087952" w="2230812">
                <a:moveTo>
                  <a:pt x="0" y="0"/>
                </a:moveTo>
                <a:lnTo>
                  <a:pt x="2230812" y="0"/>
                </a:lnTo>
                <a:lnTo>
                  <a:pt x="2230812" y="2087952"/>
                </a:lnTo>
                <a:lnTo>
                  <a:pt x="0" y="2087952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6982076" y="4108320"/>
            <a:ext cx="2187551" cy="2070361"/>
          </a:xfrm>
          <a:custGeom>
            <a:avLst/>
            <a:gdLst/>
            <a:ahLst/>
            <a:cxnLst/>
            <a:rect r="r" b="b" t="t" l="l"/>
            <a:pathLst>
              <a:path h="2070361" w="2187551">
                <a:moveTo>
                  <a:pt x="0" y="0"/>
                </a:moveTo>
                <a:lnTo>
                  <a:pt x="2187551" y="0"/>
                </a:lnTo>
                <a:lnTo>
                  <a:pt x="2187551" y="2070360"/>
                </a:lnTo>
                <a:lnTo>
                  <a:pt x="0" y="2070360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2280311" y="7053559"/>
            <a:ext cx="2334408" cy="2080898"/>
          </a:xfrm>
          <a:custGeom>
            <a:avLst/>
            <a:gdLst/>
            <a:ahLst/>
            <a:cxnLst/>
            <a:rect r="r" b="b" t="t" l="l"/>
            <a:pathLst>
              <a:path h="2080898" w="2334408">
                <a:moveTo>
                  <a:pt x="0" y="0"/>
                </a:moveTo>
                <a:lnTo>
                  <a:pt x="2334408" y="0"/>
                </a:lnTo>
                <a:lnTo>
                  <a:pt x="2334408" y="2080898"/>
                </a:lnTo>
                <a:lnTo>
                  <a:pt x="0" y="2080898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7083159" y="7053559"/>
            <a:ext cx="2124798" cy="2080898"/>
          </a:xfrm>
          <a:custGeom>
            <a:avLst/>
            <a:gdLst/>
            <a:ahLst/>
            <a:cxnLst/>
            <a:rect r="r" b="b" t="t" l="l"/>
            <a:pathLst>
              <a:path h="2080898" w="2124798">
                <a:moveTo>
                  <a:pt x="0" y="0"/>
                </a:moveTo>
                <a:lnTo>
                  <a:pt x="2124799" y="0"/>
                </a:lnTo>
                <a:lnTo>
                  <a:pt x="2124799" y="2080898"/>
                </a:lnTo>
                <a:lnTo>
                  <a:pt x="0" y="2080898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9645710" y="7059596"/>
            <a:ext cx="2153369" cy="2074861"/>
          </a:xfrm>
          <a:custGeom>
            <a:avLst/>
            <a:gdLst/>
            <a:ahLst/>
            <a:cxnLst/>
            <a:rect r="r" b="b" t="t" l="l"/>
            <a:pathLst>
              <a:path h="2074861" w="2153369">
                <a:moveTo>
                  <a:pt x="0" y="0"/>
                </a:moveTo>
                <a:lnTo>
                  <a:pt x="2153369" y="0"/>
                </a:lnTo>
                <a:lnTo>
                  <a:pt x="2153369" y="2074861"/>
                </a:lnTo>
                <a:lnTo>
                  <a:pt x="0" y="2074861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4418844" y="7059596"/>
            <a:ext cx="2222313" cy="2074861"/>
          </a:xfrm>
          <a:custGeom>
            <a:avLst/>
            <a:gdLst/>
            <a:ahLst/>
            <a:cxnLst/>
            <a:rect r="r" b="b" t="t" l="l"/>
            <a:pathLst>
              <a:path h="2074861" w="2222313">
                <a:moveTo>
                  <a:pt x="0" y="0"/>
                </a:moveTo>
                <a:lnTo>
                  <a:pt x="2222313" y="0"/>
                </a:lnTo>
                <a:lnTo>
                  <a:pt x="2222313" y="2074861"/>
                </a:lnTo>
                <a:lnTo>
                  <a:pt x="0" y="2074861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2438177" y="829962"/>
            <a:ext cx="13411646" cy="4381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00"/>
              </a:lnSpc>
            </a:pPr>
            <a:r>
              <a:rPr lang="en-US" sz="3000">
                <a:solidFill>
                  <a:srgbClr val="5A3831"/>
                </a:solidFill>
                <a:latin typeface="Grand Cru M"/>
                <a:ea typeface="Grand Cru M"/>
                <a:cs typeface="Grand Cru M"/>
                <a:sym typeface="Grand Cru M"/>
              </a:rPr>
              <a:t>Natural Paneer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438177" y="3545000"/>
            <a:ext cx="13411646" cy="4381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00"/>
              </a:lnSpc>
            </a:pPr>
            <a:r>
              <a:rPr lang="en-US" sz="3000">
                <a:solidFill>
                  <a:srgbClr val="5A3831"/>
                </a:solidFill>
                <a:latin typeface="Grand Cru M"/>
                <a:ea typeface="Grand Cru M"/>
                <a:cs typeface="Grand Cru M"/>
                <a:sym typeface="Grand Cru M"/>
              </a:rPr>
              <a:t>Malai Paneer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438177" y="6491547"/>
            <a:ext cx="13411646" cy="4381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00"/>
              </a:lnSpc>
            </a:pPr>
            <a:r>
              <a:rPr lang="en-US" sz="3000">
                <a:solidFill>
                  <a:srgbClr val="5A3831"/>
                </a:solidFill>
                <a:latin typeface="Grand Cru M"/>
                <a:ea typeface="Grand Cru M"/>
                <a:cs typeface="Grand Cru M"/>
                <a:sym typeface="Grand Cru M"/>
              </a:rPr>
              <a:t>Tofu Paneer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3576991" y="9350939"/>
            <a:ext cx="11134019" cy="485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63"/>
              </a:lnSpc>
              <a:spcBef>
                <a:spcPct val="0"/>
              </a:spcBef>
            </a:pPr>
            <a:r>
              <a:rPr lang="en-US" sz="1693">
                <a:solidFill>
                  <a:srgbClr val="5A3831"/>
                </a:solidFill>
                <a:latin typeface="Grand Cru M"/>
                <a:ea typeface="Grand Cru M"/>
                <a:cs typeface="Grand Cru M"/>
                <a:sym typeface="Grand Cru M"/>
              </a:rPr>
              <a:t>RESULT IMAGES</a:t>
            </a:r>
          </a:p>
          <a:p>
            <a:pPr algn="ctr">
              <a:lnSpc>
                <a:spcPts val="1863"/>
              </a:lnSpc>
              <a:spcBef>
                <a:spcPct val="0"/>
              </a:spcBef>
            </a:pPr>
            <a:r>
              <a:rPr lang="en-US" sz="1693">
                <a:solidFill>
                  <a:srgbClr val="5A3831"/>
                </a:solidFill>
                <a:latin typeface="Grand Cru M"/>
                <a:ea typeface="Grand Cru M"/>
                <a:cs typeface="Grand Cru M"/>
                <a:sym typeface="Grand Cru M"/>
              </a:rPr>
              <a:t>https://drive.google.com/drive/folders/1J8_2B4R58m_Ac6yTE5FEuSctlXSK0IcV?usp=sharing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EB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655863">
            <a:off x="-2718108" y="7914948"/>
            <a:ext cx="6863334" cy="5881426"/>
          </a:xfrm>
          <a:custGeom>
            <a:avLst/>
            <a:gdLst/>
            <a:ahLst/>
            <a:cxnLst/>
            <a:rect r="r" b="b" t="t" l="l"/>
            <a:pathLst>
              <a:path h="5881426" w="6863334">
                <a:moveTo>
                  <a:pt x="6863335" y="0"/>
                </a:moveTo>
                <a:lnTo>
                  <a:pt x="0" y="0"/>
                </a:lnTo>
                <a:lnTo>
                  <a:pt x="0" y="5881427"/>
                </a:lnTo>
                <a:lnTo>
                  <a:pt x="6863335" y="5881427"/>
                </a:lnTo>
                <a:lnTo>
                  <a:pt x="6863335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277970">
            <a:off x="14614314" y="8038309"/>
            <a:ext cx="5289973" cy="5109779"/>
          </a:xfrm>
          <a:custGeom>
            <a:avLst/>
            <a:gdLst/>
            <a:ahLst/>
            <a:cxnLst/>
            <a:rect r="r" b="b" t="t" l="l"/>
            <a:pathLst>
              <a:path h="5109779" w="5289973">
                <a:moveTo>
                  <a:pt x="0" y="0"/>
                </a:moveTo>
                <a:lnTo>
                  <a:pt x="5289972" y="0"/>
                </a:lnTo>
                <a:lnTo>
                  <a:pt x="5289972" y="5109779"/>
                </a:lnTo>
                <a:lnTo>
                  <a:pt x="0" y="5109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9767822" y="9456441"/>
            <a:ext cx="4844329" cy="4114800"/>
          </a:xfrm>
          <a:custGeom>
            <a:avLst/>
            <a:gdLst/>
            <a:ahLst/>
            <a:cxnLst/>
            <a:rect r="r" b="b" t="t" l="l"/>
            <a:pathLst>
              <a:path h="4114800" w="4844329">
                <a:moveTo>
                  <a:pt x="4844329" y="0"/>
                </a:moveTo>
                <a:lnTo>
                  <a:pt x="0" y="0"/>
                </a:lnTo>
                <a:lnTo>
                  <a:pt x="0" y="4114800"/>
                </a:lnTo>
                <a:lnTo>
                  <a:pt x="4844329" y="4114800"/>
                </a:lnTo>
                <a:lnTo>
                  <a:pt x="4844329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4023618" y="9456441"/>
            <a:ext cx="6729198" cy="4114800"/>
          </a:xfrm>
          <a:custGeom>
            <a:avLst/>
            <a:gdLst/>
            <a:ahLst/>
            <a:cxnLst/>
            <a:rect r="r" b="b" t="t" l="l"/>
            <a:pathLst>
              <a:path h="4114800" w="6729198">
                <a:moveTo>
                  <a:pt x="0" y="4114800"/>
                </a:moveTo>
                <a:lnTo>
                  <a:pt x="6729198" y="4114800"/>
                </a:lnTo>
                <a:lnTo>
                  <a:pt x="6729198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81425" y="9258300"/>
            <a:ext cx="1694549" cy="2057400"/>
          </a:xfrm>
          <a:custGeom>
            <a:avLst/>
            <a:gdLst/>
            <a:ahLst/>
            <a:cxnLst/>
            <a:rect r="r" b="b" t="t" l="l"/>
            <a:pathLst>
              <a:path h="2057400" w="1694549">
                <a:moveTo>
                  <a:pt x="0" y="0"/>
                </a:moveTo>
                <a:lnTo>
                  <a:pt x="1694550" y="0"/>
                </a:lnTo>
                <a:lnTo>
                  <a:pt x="169455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146571" y="9531439"/>
            <a:ext cx="2483292" cy="1324222"/>
          </a:xfrm>
          <a:custGeom>
            <a:avLst/>
            <a:gdLst/>
            <a:ahLst/>
            <a:cxnLst/>
            <a:rect r="r" b="b" t="t" l="l"/>
            <a:pathLst>
              <a:path h="1324222" w="2483292">
                <a:moveTo>
                  <a:pt x="0" y="0"/>
                </a:moveTo>
                <a:lnTo>
                  <a:pt x="2483292" y="0"/>
                </a:lnTo>
                <a:lnTo>
                  <a:pt x="2483292" y="1324223"/>
                </a:lnTo>
                <a:lnTo>
                  <a:pt x="0" y="132422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-10209537">
            <a:off x="14026850" y="-3520368"/>
            <a:ext cx="6863334" cy="5881426"/>
          </a:xfrm>
          <a:custGeom>
            <a:avLst/>
            <a:gdLst/>
            <a:ahLst/>
            <a:cxnLst/>
            <a:rect r="r" b="b" t="t" l="l"/>
            <a:pathLst>
              <a:path h="5881426" w="6863334">
                <a:moveTo>
                  <a:pt x="6863334" y="0"/>
                </a:moveTo>
                <a:lnTo>
                  <a:pt x="0" y="0"/>
                </a:lnTo>
                <a:lnTo>
                  <a:pt x="0" y="5881427"/>
                </a:lnTo>
                <a:lnTo>
                  <a:pt x="6863334" y="5881427"/>
                </a:lnTo>
                <a:lnTo>
                  <a:pt x="686333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5587429">
            <a:off x="-1724223" y="-2557377"/>
            <a:ext cx="5289973" cy="5109779"/>
          </a:xfrm>
          <a:custGeom>
            <a:avLst/>
            <a:gdLst/>
            <a:ahLst/>
            <a:cxnLst/>
            <a:rect r="r" b="b" t="t" l="l"/>
            <a:pathLst>
              <a:path h="5109779" w="5289973">
                <a:moveTo>
                  <a:pt x="0" y="0"/>
                </a:moveTo>
                <a:lnTo>
                  <a:pt x="5289972" y="0"/>
                </a:lnTo>
                <a:lnTo>
                  <a:pt x="5289972" y="5109779"/>
                </a:lnTo>
                <a:lnTo>
                  <a:pt x="0" y="5109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10734599">
            <a:off x="3549481" y="-3076798"/>
            <a:ext cx="4844329" cy="4114800"/>
          </a:xfrm>
          <a:custGeom>
            <a:avLst/>
            <a:gdLst/>
            <a:ahLst/>
            <a:cxnLst/>
            <a:rect r="r" b="b" t="t" l="l"/>
            <a:pathLst>
              <a:path h="4114800" w="4844329">
                <a:moveTo>
                  <a:pt x="4844329" y="0"/>
                </a:moveTo>
                <a:lnTo>
                  <a:pt x="0" y="0"/>
                </a:lnTo>
                <a:lnTo>
                  <a:pt x="0" y="4114800"/>
                </a:lnTo>
                <a:lnTo>
                  <a:pt x="4844329" y="4114800"/>
                </a:lnTo>
                <a:lnTo>
                  <a:pt x="4844329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true" rot="10734599">
            <a:off x="7407947" y="-3168142"/>
            <a:ext cx="6729198" cy="4114800"/>
          </a:xfrm>
          <a:custGeom>
            <a:avLst/>
            <a:gdLst/>
            <a:ahLst/>
            <a:cxnLst/>
            <a:rect r="r" b="b" t="t" l="l"/>
            <a:pathLst>
              <a:path h="4114800" w="6729198">
                <a:moveTo>
                  <a:pt x="0" y="4114800"/>
                </a:moveTo>
                <a:lnTo>
                  <a:pt x="6729199" y="4114800"/>
                </a:lnTo>
                <a:lnTo>
                  <a:pt x="6729199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10734599">
            <a:off x="16306976" y="-1033801"/>
            <a:ext cx="1694549" cy="2057400"/>
          </a:xfrm>
          <a:custGeom>
            <a:avLst/>
            <a:gdLst/>
            <a:ahLst/>
            <a:cxnLst/>
            <a:rect r="r" b="b" t="t" l="l"/>
            <a:pathLst>
              <a:path h="2057400" w="1694549">
                <a:moveTo>
                  <a:pt x="0" y="0"/>
                </a:moveTo>
                <a:lnTo>
                  <a:pt x="1694550" y="0"/>
                </a:lnTo>
                <a:lnTo>
                  <a:pt x="169455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10734599">
            <a:off x="9556016" y="-452802"/>
            <a:ext cx="2483292" cy="1324222"/>
          </a:xfrm>
          <a:custGeom>
            <a:avLst/>
            <a:gdLst/>
            <a:ahLst/>
            <a:cxnLst/>
            <a:rect r="r" b="b" t="t" l="l"/>
            <a:pathLst>
              <a:path h="1324222" w="2483292">
                <a:moveTo>
                  <a:pt x="0" y="0"/>
                </a:moveTo>
                <a:lnTo>
                  <a:pt x="2483293" y="0"/>
                </a:lnTo>
                <a:lnTo>
                  <a:pt x="2483293" y="1324223"/>
                </a:lnTo>
                <a:lnTo>
                  <a:pt x="0" y="132422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3694423" y="-2436222"/>
            <a:ext cx="2277223" cy="2833649"/>
          </a:xfrm>
          <a:custGeom>
            <a:avLst/>
            <a:gdLst/>
            <a:ahLst/>
            <a:cxnLst/>
            <a:rect r="r" b="b" t="t" l="l"/>
            <a:pathLst>
              <a:path h="2833649" w="2277223">
                <a:moveTo>
                  <a:pt x="0" y="0"/>
                </a:moveTo>
                <a:lnTo>
                  <a:pt x="2277223" y="0"/>
                </a:lnTo>
                <a:lnTo>
                  <a:pt x="2277223" y="2833649"/>
                </a:lnTo>
                <a:lnTo>
                  <a:pt x="0" y="283364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0393908" y="9531439"/>
            <a:ext cx="2277223" cy="2833649"/>
          </a:xfrm>
          <a:custGeom>
            <a:avLst/>
            <a:gdLst/>
            <a:ahLst/>
            <a:cxnLst/>
            <a:rect r="r" b="b" t="t" l="l"/>
            <a:pathLst>
              <a:path h="2833649" w="2277223">
                <a:moveTo>
                  <a:pt x="0" y="0"/>
                </a:moveTo>
                <a:lnTo>
                  <a:pt x="2277223" y="0"/>
                </a:lnTo>
                <a:lnTo>
                  <a:pt x="2277223" y="2833649"/>
                </a:lnTo>
                <a:lnTo>
                  <a:pt x="0" y="2833649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3459109" y="3624228"/>
            <a:ext cx="11369783" cy="44182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46079" indent="-273040" lvl="1">
              <a:lnSpc>
                <a:spcPts val="2529"/>
              </a:lnSpc>
              <a:buFont typeface="Arial"/>
              <a:buChar char="•"/>
            </a:pPr>
            <a:r>
              <a:rPr lang="en-US" sz="2529">
                <a:solidFill>
                  <a:srgbClr val="5A3831"/>
                </a:solidFill>
                <a:latin typeface="Grand Cru M"/>
                <a:ea typeface="Grand Cru M"/>
                <a:cs typeface="Grand Cru M"/>
                <a:sym typeface="Grand Cru M"/>
              </a:rPr>
              <a:t>Hyperspectral Imaging (HSI) effectively captures chemical and physical changes in paneer.</a:t>
            </a:r>
          </a:p>
          <a:p>
            <a:pPr algn="l">
              <a:lnSpc>
                <a:spcPts val="2529"/>
              </a:lnSpc>
            </a:pPr>
          </a:p>
          <a:p>
            <a:pPr algn="l" marL="546079" indent="-273040" lvl="1">
              <a:lnSpc>
                <a:spcPts val="2529"/>
              </a:lnSpc>
              <a:buFont typeface="Arial"/>
              <a:buChar char="•"/>
            </a:pPr>
            <a:r>
              <a:rPr lang="en-US" sz="2529">
                <a:solidFill>
                  <a:srgbClr val="5A3831"/>
                </a:solidFill>
                <a:latin typeface="Grand Cru M"/>
                <a:ea typeface="Grand Cru M"/>
                <a:cs typeface="Grand Cru M"/>
                <a:sym typeface="Grand Cru M"/>
              </a:rPr>
              <a:t>Reflectance variations correspond to contamination or treatment intensity.</a:t>
            </a:r>
          </a:p>
          <a:p>
            <a:pPr algn="l">
              <a:lnSpc>
                <a:spcPts val="2529"/>
              </a:lnSpc>
            </a:pPr>
          </a:p>
          <a:p>
            <a:pPr algn="l" marL="546079" indent="-273040" lvl="1">
              <a:lnSpc>
                <a:spcPts val="2529"/>
              </a:lnSpc>
              <a:buFont typeface="Arial"/>
              <a:buChar char="•"/>
            </a:pPr>
            <a:r>
              <a:rPr lang="en-US" sz="2529">
                <a:solidFill>
                  <a:srgbClr val="5A3831"/>
                </a:solidFill>
                <a:latin typeface="Grand Cru M"/>
                <a:ea typeface="Grand Cru M"/>
                <a:cs typeface="Grand Cru M"/>
                <a:sym typeface="Grand Cru M"/>
              </a:rPr>
              <a:t>Data structure and preprocessing pipeline are complete for deep learning integration.</a:t>
            </a:r>
          </a:p>
          <a:p>
            <a:pPr algn="l">
              <a:lnSpc>
                <a:spcPts val="2529"/>
              </a:lnSpc>
            </a:pPr>
          </a:p>
          <a:p>
            <a:pPr algn="l" marL="546079" indent="-273040" lvl="1">
              <a:lnSpc>
                <a:spcPts val="2529"/>
              </a:lnSpc>
              <a:buFont typeface="Arial"/>
              <a:buChar char="•"/>
            </a:pPr>
            <a:r>
              <a:rPr lang="en-US" sz="2529">
                <a:solidFill>
                  <a:srgbClr val="5A3831"/>
                </a:solidFill>
                <a:latin typeface="Grand Cru M"/>
                <a:ea typeface="Grand Cru M"/>
                <a:cs typeface="Grand Cru M"/>
                <a:sym typeface="Grand Cru M"/>
              </a:rPr>
              <a:t>The method is non-destructive and more sensitive than thermal imaging.</a:t>
            </a:r>
          </a:p>
          <a:p>
            <a:pPr algn="l">
              <a:lnSpc>
                <a:spcPts val="2529"/>
              </a:lnSpc>
            </a:pPr>
          </a:p>
          <a:p>
            <a:pPr algn="l" marL="546079" indent="-273040" lvl="1">
              <a:lnSpc>
                <a:spcPts val="2529"/>
              </a:lnSpc>
              <a:buFont typeface="Arial"/>
              <a:buChar char="•"/>
            </a:pPr>
            <a:r>
              <a:rPr lang="en-US" sz="2529">
                <a:solidFill>
                  <a:srgbClr val="5A3831"/>
                </a:solidFill>
                <a:latin typeface="Grand Cru M"/>
                <a:ea typeface="Grand Cru M"/>
                <a:cs typeface="Grand Cru M"/>
                <a:sym typeface="Grand Cru M"/>
              </a:rPr>
              <a:t>Established dataset and metadata ready for YOLOv11n model training.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438177" y="1816321"/>
            <a:ext cx="13411646" cy="961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70"/>
              </a:lnSpc>
            </a:pPr>
            <a:r>
              <a:rPr lang="en-US" sz="6700">
                <a:solidFill>
                  <a:srgbClr val="5A3831"/>
                </a:solidFill>
                <a:latin typeface="Grand Cru M"/>
                <a:ea typeface="Grand Cru M"/>
                <a:cs typeface="Grand Cru M"/>
                <a:sym typeface="Grand Cru M"/>
              </a:rPr>
              <a:t>Key Findings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EB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655863">
            <a:off x="-2718108" y="7914948"/>
            <a:ext cx="6863334" cy="5881426"/>
          </a:xfrm>
          <a:custGeom>
            <a:avLst/>
            <a:gdLst/>
            <a:ahLst/>
            <a:cxnLst/>
            <a:rect r="r" b="b" t="t" l="l"/>
            <a:pathLst>
              <a:path h="5881426" w="6863334">
                <a:moveTo>
                  <a:pt x="6863335" y="0"/>
                </a:moveTo>
                <a:lnTo>
                  <a:pt x="0" y="0"/>
                </a:lnTo>
                <a:lnTo>
                  <a:pt x="0" y="5881427"/>
                </a:lnTo>
                <a:lnTo>
                  <a:pt x="6863335" y="5881427"/>
                </a:lnTo>
                <a:lnTo>
                  <a:pt x="6863335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277970">
            <a:off x="14614314" y="8038309"/>
            <a:ext cx="5289973" cy="5109779"/>
          </a:xfrm>
          <a:custGeom>
            <a:avLst/>
            <a:gdLst/>
            <a:ahLst/>
            <a:cxnLst/>
            <a:rect r="r" b="b" t="t" l="l"/>
            <a:pathLst>
              <a:path h="5109779" w="5289973">
                <a:moveTo>
                  <a:pt x="0" y="0"/>
                </a:moveTo>
                <a:lnTo>
                  <a:pt x="5289972" y="0"/>
                </a:lnTo>
                <a:lnTo>
                  <a:pt x="5289972" y="5109779"/>
                </a:lnTo>
                <a:lnTo>
                  <a:pt x="0" y="5109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9767822" y="9456441"/>
            <a:ext cx="4844329" cy="4114800"/>
          </a:xfrm>
          <a:custGeom>
            <a:avLst/>
            <a:gdLst/>
            <a:ahLst/>
            <a:cxnLst/>
            <a:rect r="r" b="b" t="t" l="l"/>
            <a:pathLst>
              <a:path h="4114800" w="4844329">
                <a:moveTo>
                  <a:pt x="4844329" y="0"/>
                </a:moveTo>
                <a:lnTo>
                  <a:pt x="0" y="0"/>
                </a:lnTo>
                <a:lnTo>
                  <a:pt x="0" y="4114800"/>
                </a:lnTo>
                <a:lnTo>
                  <a:pt x="4844329" y="4114800"/>
                </a:lnTo>
                <a:lnTo>
                  <a:pt x="4844329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4023618" y="9456441"/>
            <a:ext cx="6729198" cy="4114800"/>
          </a:xfrm>
          <a:custGeom>
            <a:avLst/>
            <a:gdLst/>
            <a:ahLst/>
            <a:cxnLst/>
            <a:rect r="r" b="b" t="t" l="l"/>
            <a:pathLst>
              <a:path h="4114800" w="6729198">
                <a:moveTo>
                  <a:pt x="0" y="4114800"/>
                </a:moveTo>
                <a:lnTo>
                  <a:pt x="6729198" y="4114800"/>
                </a:lnTo>
                <a:lnTo>
                  <a:pt x="6729198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81425" y="9258300"/>
            <a:ext cx="1694549" cy="2057400"/>
          </a:xfrm>
          <a:custGeom>
            <a:avLst/>
            <a:gdLst/>
            <a:ahLst/>
            <a:cxnLst/>
            <a:rect r="r" b="b" t="t" l="l"/>
            <a:pathLst>
              <a:path h="2057400" w="1694549">
                <a:moveTo>
                  <a:pt x="0" y="0"/>
                </a:moveTo>
                <a:lnTo>
                  <a:pt x="1694550" y="0"/>
                </a:lnTo>
                <a:lnTo>
                  <a:pt x="169455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146571" y="9531439"/>
            <a:ext cx="2483292" cy="1324222"/>
          </a:xfrm>
          <a:custGeom>
            <a:avLst/>
            <a:gdLst/>
            <a:ahLst/>
            <a:cxnLst/>
            <a:rect r="r" b="b" t="t" l="l"/>
            <a:pathLst>
              <a:path h="1324222" w="2483292">
                <a:moveTo>
                  <a:pt x="0" y="0"/>
                </a:moveTo>
                <a:lnTo>
                  <a:pt x="2483292" y="0"/>
                </a:lnTo>
                <a:lnTo>
                  <a:pt x="2483292" y="1324223"/>
                </a:lnTo>
                <a:lnTo>
                  <a:pt x="0" y="132422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-10209537">
            <a:off x="14026850" y="-3520368"/>
            <a:ext cx="6863334" cy="5881426"/>
          </a:xfrm>
          <a:custGeom>
            <a:avLst/>
            <a:gdLst/>
            <a:ahLst/>
            <a:cxnLst/>
            <a:rect r="r" b="b" t="t" l="l"/>
            <a:pathLst>
              <a:path h="5881426" w="6863334">
                <a:moveTo>
                  <a:pt x="6863334" y="0"/>
                </a:moveTo>
                <a:lnTo>
                  <a:pt x="0" y="0"/>
                </a:lnTo>
                <a:lnTo>
                  <a:pt x="0" y="5881427"/>
                </a:lnTo>
                <a:lnTo>
                  <a:pt x="6863334" y="5881427"/>
                </a:lnTo>
                <a:lnTo>
                  <a:pt x="686333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5587429">
            <a:off x="-1724223" y="-2557377"/>
            <a:ext cx="5289973" cy="5109779"/>
          </a:xfrm>
          <a:custGeom>
            <a:avLst/>
            <a:gdLst/>
            <a:ahLst/>
            <a:cxnLst/>
            <a:rect r="r" b="b" t="t" l="l"/>
            <a:pathLst>
              <a:path h="5109779" w="5289973">
                <a:moveTo>
                  <a:pt x="0" y="0"/>
                </a:moveTo>
                <a:lnTo>
                  <a:pt x="5289972" y="0"/>
                </a:lnTo>
                <a:lnTo>
                  <a:pt x="5289972" y="5109779"/>
                </a:lnTo>
                <a:lnTo>
                  <a:pt x="0" y="5109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10734599">
            <a:off x="3549481" y="-3076798"/>
            <a:ext cx="4844329" cy="4114800"/>
          </a:xfrm>
          <a:custGeom>
            <a:avLst/>
            <a:gdLst/>
            <a:ahLst/>
            <a:cxnLst/>
            <a:rect r="r" b="b" t="t" l="l"/>
            <a:pathLst>
              <a:path h="4114800" w="4844329">
                <a:moveTo>
                  <a:pt x="4844329" y="0"/>
                </a:moveTo>
                <a:lnTo>
                  <a:pt x="0" y="0"/>
                </a:lnTo>
                <a:lnTo>
                  <a:pt x="0" y="4114800"/>
                </a:lnTo>
                <a:lnTo>
                  <a:pt x="4844329" y="4114800"/>
                </a:lnTo>
                <a:lnTo>
                  <a:pt x="4844329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true" rot="10734599">
            <a:off x="7407947" y="-3168142"/>
            <a:ext cx="6729198" cy="4114800"/>
          </a:xfrm>
          <a:custGeom>
            <a:avLst/>
            <a:gdLst/>
            <a:ahLst/>
            <a:cxnLst/>
            <a:rect r="r" b="b" t="t" l="l"/>
            <a:pathLst>
              <a:path h="4114800" w="6729198">
                <a:moveTo>
                  <a:pt x="0" y="4114800"/>
                </a:moveTo>
                <a:lnTo>
                  <a:pt x="6729199" y="4114800"/>
                </a:lnTo>
                <a:lnTo>
                  <a:pt x="6729199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10734599">
            <a:off x="16306976" y="-1033801"/>
            <a:ext cx="1694549" cy="2057400"/>
          </a:xfrm>
          <a:custGeom>
            <a:avLst/>
            <a:gdLst/>
            <a:ahLst/>
            <a:cxnLst/>
            <a:rect r="r" b="b" t="t" l="l"/>
            <a:pathLst>
              <a:path h="2057400" w="1694549">
                <a:moveTo>
                  <a:pt x="0" y="0"/>
                </a:moveTo>
                <a:lnTo>
                  <a:pt x="1694550" y="0"/>
                </a:lnTo>
                <a:lnTo>
                  <a:pt x="169455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10734599">
            <a:off x="9556016" y="-452802"/>
            <a:ext cx="2483292" cy="1324222"/>
          </a:xfrm>
          <a:custGeom>
            <a:avLst/>
            <a:gdLst/>
            <a:ahLst/>
            <a:cxnLst/>
            <a:rect r="r" b="b" t="t" l="l"/>
            <a:pathLst>
              <a:path h="1324222" w="2483292">
                <a:moveTo>
                  <a:pt x="0" y="0"/>
                </a:moveTo>
                <a:lnTo>
                  <a:pt x="2483293" y="0"/>
                </a:lnTo>
                <a:lnTo>
                  <a:pt x="2483293" y="1324223"/>
                </a:lnTo>
                <a:lnTo>
                  <a:pt x="0" y="132422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3694423" y="-2436222"/>
            <a:ext cx="2277223" cy="2833649"/>
          </a:xfrm>
          <a:custGeom>
            <a:avLst/>
            <a:gdLst/>
            <a:ahLst/>
            <a:cxnLst/>
            <a:rect r="r" b="b" t="t" l="l"/>
            <a:pathLst>
              <a:path h="2833649" w="2277223">
                <a:moveTo>
                  <a:pt x="0" y="0"/>
                </a:moveTo>
                <a:lnTo>
                  <a:pt x="2277223" y="0"/>
                </a:lnTo>
                <a:lnTo>
                  <a:pt x="2277223" y="2833649"/>
                </a:lnTo>
                <a:lnTo>
                  <a:pt x="0" y="283364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0393908" y="9531439"/>
            <a:ext cx="2277223" cy="2833649"/>
          </a:xfrm>
          <a:custGeom>
            <a:avLst/>
            <a:gdLst/>
            <a:ahLst/>
            <a:cxnLst/>
            <a:rect r="r" b="b" t="t" l="l"/>
            <a:pathLst>
              <a:path h="2833649" w="2277223">
                <a:moveTo>
                  <a:pt x="0" y="0"/>
                </a:moveTo>
                <a:lnTo>
                  <a:pt x="2277223" y="0"/>
                </a:lnTo>
                <a:lnTo>
                  <a:pt x="2277223" y="2833649"/>
                </a:lnTo>
                <a:lnTo>
                  <a:pt x="0" y="2833649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3459109" y="3818713"/>
            <a:ext cx="11369783" cy="37894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9"/>
              </a:lnSpc>
            </a:pPr>
            <a:r>
              <a:rPr lang="en-US" sz="2529">
                <a:solidFill>
                  <a:srgbClr val="5A3831"/>
                </a:solidFill>
                <a:latin typeface="Grand Cru M"/>
                <a:ea typeface="Grand Cru M"/>
                <a:cs typeface="Grand Cru M"/>
                <a:sym typeface="Grand Cru M"/>
              </a:rPr>
              <a:t>Planned Next Steps:</a:t>
            </a:r>
          </a:p>
          <a:p>
            <a:pPr algn="l">
              <a:lnSpc>
                <a:spcPts val="2529"/>
              </a:lnSpc>
            </a:pPr>
          </a:p>
          <a:p>
            <a:pPr algn="l" marL="546079" indent="-273040" lvl="1">
              <a:lnSpc>
                <a:spcPts val="2529"/>
              </a:lnSpc>
              <a:buFont typeface="Arial"/>
              <a:buChar char="•"/>
            </a:pPr>
            <a:r>
              <a:rPr lang="en-US" sz="2529">
                <a:solidFill>
                  <a:srgbClr val="5A3831"/>
                </a:solidFill>
                <a:latin typeface="Grand Cru M"/>
                <a:ea typeface="Grand Cru M"/>
                <a:cs typeface="Grand Cru M"/>
                <a:sym typeface="Grand Cru M"/>
              </a:rPr>
              <a:t>Apply PCA or band selection to compress 80 bands into 3-channel pseudo-RGB images.</a:t>
            </a:r>
          </a:p>
          <a:p>
            <a:pPr algn="l">
              <a:lnSpc>
                <a:spcPts val="2529"/>
              </a:lnSpc>
            </a:pPr>
          </a:p>
          <a:p>
            <a:pPr algn="l" marL="546079" indent="-273040" lvl="1">
              <a:lnSpc>
                <a:spcPts val="2529"/>
              </a:lnSpc>
              <a:buFont typeface="Arial"/>
              <a:buChar char="•"/>
            </a:pPr>
            <a:r>
              <a:rPr lang="en-US" sz="2529">
                <a:solidFill>
                  <a:srgbClr val="5A3831"/>
                </a:solidFill>
                <a:latin typeface="Grand Cru M"/>
                <a:ea typeface="Grand Cru M"/>
                <a:cs typeface="Grand Cru M"/>
                <a:sym typeface="Grand Cru M"/>
              </a:rPr>
              <a:t>Annotate images using Roboflow for contamination labeling.</a:t>
            </a:r>
          </a:p>
          <a:p>
            <a:pPr algn="l">
              <a:lnSpc>
                <a:spcPts val="2529"/>
              </a:lnSpc>
            </a:pPr>
          </a:p>
          <a:p>
            <a:pPr algn="l" marL="546079" indent="-273040" lvl="1">
              <a:lnSpc>
                <a:spcPts val="2529"/>
              </a:lnSpc>
              <a:buFont typeface="Arial"/>
              <a:buChar char="•"/>
            </a:pPr>
            <a:r>
              <a:rPr lang="en-US" sz="2529">
                <a:solidFill>
                  <a:srgbClr val="5A3831"/>
                </a:solidFill>
                <a:latin typeface="Grand Cru M"/>
                <a:ea typeface="Grand Cru M"/>
                <a:cs typeface="Grand Cru M"/>
                <a:sym typeface="Grand Cru M"/>
              </a:rPr>
              <a:t>Train the YOLOv11n model on the preprocessed dataset.</a:t>
            </a:r>
          </a:p>
          <a:p>
            <a:pPr algn="l">
              <a:lnSpc>
                <a:spcPts val="2529"/>
              </a:lnSpc>
            </a:pPr>
          </a:p>
          <a:p>
            <a:pPr algn="l" marL="546079" indent="-273040" lvl="1">
              <a:lnSpc>
                <a:spcPts val="2529"/>
              </a:lnSpc>
              <a:buFont typeface="Arial"/>
              <a:buChar char="•"/>
            </a:pPr>
            <a:r>
              <a:rPr lang="en-US" sz="2529">
                <a:solidFill>
                  <a:srgbClr val="5A3831"/>
                </a:solidFill>
                <a:latin typeface="Grand Cru M"/>
                <a:ea typeface="Grand Cru M"/>
                <a:cs typeface="Grand Cru M"/>
                <a:sym typeface="Grand Cru M"/>
              </a:rPr>
              <a:t>Evaluate using *Precision, Recall, and mAP metrics.</a:t>
            </a:r>
          </a:p>
          <a:p>
            <a:pPr algn="l">
              <a:lnSpc>
                <a:spcPts val="2529"/>
              </a:lnSpc>
            </a:pPr>
          </a:p>
          <a:p>
            <a:pPr algn="l" marL="546079" indent="-273040" lvl="1">
              <a:lnSpc>
                <a:spcPts val="2529"/>
              </a:lnSpc>
              <a:buFont typeface="Arial"/>
              <a:buChar char="•"/>
            </a:pPr>
            <a:r>
              <a:rPr lang="en-US" sz="2529">
                <a:solidFill>
                  <a:srgbClr val="5A3831"/>
                </a:solidFill>
                <a:latin typeface="Grand Cru M"/>
                <a:ea typeface="Grand Cru M"/>
                <a:cs typeface="Grand Cru M"/>
                <a:sym typeface="Grand Cru M"/>
              </a:rPr>
              <a:t>Extend dataset from 140 to 540 images for higher accuracy.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438177" y="1816321"/>
            <a:ext cx="13411646" cy="961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70"/>
              </a:lnSpc>
            </a:pPr>
            <a:r>
              <a:rPr lang="en-US" sz="6700">
                <a:solidFill>
                  <a:srgbClr val="5A3831"/>
                </a:solidFill>
                <a:latin typeface="Grand Cru M"/>
                <a:ea typeface="Grand Cru M"/>
                <a:cs typeface="Grand Cru M"/>
                <a:sym typeface="Grand Cru M"/>
              </a:rPr>
              <a:t>Future Enhancements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EB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655863">
            <a:off x="-2718108" y="7914948"/>
            <a:ext cx="6863334" cy="5881426"/>
          </a:xfrm>
          <a:custGeom>
            <a:avLst/>
            <a:gdLst/>
            <a:ahLst/>
            <a:cxnLst/>
            <a:rect r="r" b="b" t="t" l="l"/>
            <a:pathLst>
              <a:path h="5881426" w="6863334">
                <a:moveTo>
                  <a:pt x="6863335" y="0"/>
                </a:moveTo>
                <a:lnTo>
                  <a:pt x="0" y="0"/>
                </a:lnTo>
                <a:lnTo>
                  <a:pt x="0" y="5881427"/>
                </a:lnTo>
                <a:lnTo>
                  <a:pt x="6863335" y="5881427"/>
                </a:lnTo>
                <a:lnTo>
                  <a:pt x="6863335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277970">
            <a:off x="14614314" y="8038309"/>
            <a:ext cx="5289973" cy="5109779"/>
          </a:xfrm>
          <a:custGeom>
            <a:avLst/>
            <a:gdLst/>
            <a:ahLst/>
            <a:cxnLst/>
            <a:rect r="r" b="b" t="t" l="l"/>
            <a:pathLst>
              <a:path h="5109779" w="5289973">
                <a:moveTo>
                  <a:pt x="0" y="0"/>
                </a:moveTo>
                <a:lnTo>
                  <a:pt x="5289972" y="0"/>
                </a:lnTo>
                <a:lnTo>
                  <a:pt x="5289972" y="5109779"/>
                </a:lnTo>
                <a:lnTo>
                  <a:pt x="0" y="5109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9767822" y="9456441"/>
            <a:ext cx="4844329" cy="4114800"/>
          </a:xfrm>
          <a:custGeom>
            <a:avLst/>
            <a:gdLst/>
            <a:ahLst/>
            <a:cxnLst/>
            <a:rect r="r" b="b" t="t" l="l"/>
            <a:pathLst>
              <a:path h="4114800" w="4844329">
                <a:moveTo>
                  <a:pt x="4844329" y="0"/>
                </a:moveTo>
                <a:lnTo>
                  <a:pt x="0" y="0"/>
                </a:lnTo>
                <a:lnTo>
                  <a:pt x="0" y="4114800"/>
                </a:lnTo>
                <a:lnTo>
                  <a:pt x="4844329" y="4114800"/>
                </a:lnTo>
                <a:lnTo>
                  <a:pt x="4844329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4023618" y="9456441"/>
            <a:ext cx="6729198" cy="4114800"/>
          </a:xfrm>
          <a:custGeom>
            <a:avLst/>
            <a:gdLst/>
            <a:ahLst/>
            <a:cxnLst/>
            <a:rect r="r" b="b" t="t" l="l"/>
            <a:pathLst>
              <a:path h="4114800" w="6729198">
                <a:moveTo>
                  <a:pt x="0" y="4114800"/>
                </a:moveTo>
                <a:lnTo>
                  <a:pt x="6729198" y="4114800"/>
                </a:lnTo>
                <a:lnTo>
                  <a:pt x="6729198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81425" y="9258300"/>
            <a:ext cx="1694549" cy="2057400"/>
          </a:xfrm>
          <a:custGeom>
            <a:avLst/>
            <a:gdLst/>
            <a:ahLst/>
            <a:cxnLst/>
            <a:rect r="r" b="b" t="t" l="l"/>
            <a:pathLst>
              <a:path h="2057400" w="1694549">
                <a:moveTo>
                  <a:pt x="0" y="0"/>
                </a:moveTo>
                <a:lnTo>
                  <a:pt x="1694550" y="0"/>
                </a:lnTo>
                <a:lnTo>
                  <a:pt x="169455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146571" y="9531439"/>
            <a:ext cx="2483292" cy="1324222"/>
          </a:xfrm>
          <a:custGeom>
            <a:avLst/>
            <a:gdLst/>
            <a:ahLst/>
            <a:cxnLst/>
            <a:rect r="r" b="b" t="t" l="l"/>
            <a:pathLst>
              <a:path h="1324222" w="2483292">
                <a:moveTo>
                  <a:pt x="0" y="0"/>
                </a:moveTo>
                <a:lnTo>
                  <a:pt x="2483292" y="0"/>
                </a:lnTo>
                <a:lnTo>
                  <a:pt x="2483292" y="1324223"/>
                </a:lnTo>
                <a:lnTo>
                  <a:pt x="0" y="132422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-10209537">
            <a:off x="14026850" y="-3520368"/>
            <a:ext cx="6863334" cy="5881426"/>
          </a:xfrm>
          <a:custGeom>
            <a:avLst/>
            <a:gdLst/>
            <a:ahLst/>
            <a:cxnLst/>
            <a:rect r="r" b="b" t="t" l="l"/>
            <a:pathLst>
              <a:path h="5881426" w="6863334">
                <a:moveTo>
                  <a:pt x="6863334" y="0"/>
                </a:moveTo>
                <a:lnTo>
                  <a:pt x="0" y="0"/>
                </a:lnTo>
                <a:lnTo>
                  <a:pt x="0" y="5881427"/>
                </a:lnTo>
                <a:lnTo>
                  <a:pt x="6863334" y="5881427"/>
                </a:lnTo>
                <a:lnTo>
                  <a:pt x="686333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5587429">
            <a:off x="-1724223" y="-2557377"/>
            <a:ext cx="5289973" cy="5109779"/>
          </a:xfrm>
          <a:custGeom>
            <a:avLst/>
            <a:gdLst/>
            <a:ahLst/>
            <a:cxnLst/>
            <a:rect r="r" b="b" t="t" l="l"/>
            <a:pathLst>
              <a:path h="5109779" w="5289973">
                <a:moveTo>
                  <a:pt x="0" y="0"/>
                </a:moveTo>
                <a:lnTo>
                  <a:pt x="5289972" y="0"/>
                </a:lnTo>
                <a:lnTo>
                  <a:pt x="5289972" y="5109779"/>
                </a:lnTo>
                <a:lnTo>
                  <a:pt x="0" y="5109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10734599">
            <a:off x="3549481" y="-3076798"/>
            <a:ext cx="4844329" cy="4114800"/>
          </a:xfrm>
          <a:custGeom>
            <a:avLst/>
            <a:gdLst/>
            <a:ahLst/>
            <a:cxnLst/>
            <a:rect r="r" b="b" t="t" l="l"/>
            <a:pathLst>
              <a:path h="4114800" w="4844329">
                <a:moveTo>
                  <a:pt x="4844329" y="0"/>
                </a:moveTo>
                <a:lnTo>
                  <a:pt x="0" y="0"/>
                </a:lnTo>
                <a:lnTo>
                  <a:pt x="0" y="4114800"/>
                </a:lnTo>
                <a:lnTo>
                  <a:pt x="4844329" y="4114800"/>
                </a:lnTo>
                <a:lnTo>
                  <a:pt x="4844329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true" rot="10734599">
            <a:off x="7407947" y="-3168142"/>
            <a:ext cx="6729198" cy="4114800"/>
          </a:xfrm>
          <a:custGeom>
            <a:avLst/>
            <a:gdLst/>
            <a:ahLst/>
            <a:cxnLst/>
            <a:rect r="r" b="b" t="t" l="l"/>
            <a:pathLst>
              <a:path h="4114800" w="6729198">
                <a:moveTo>
                  <a:pt x="0" y="4114800"/>
                </a:moveTo>
                <a:lnTo>
                  <a:pt x="6729199" y="4114800"/>
                </a:lnTo>
                <a:lnTo>
                  <a:pt x="6729199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10734599">
            <a:off x="16306976" y="-1033801"/>
            <a:ext cx="1694549" cy="2057400"/>
          </a:xfrm>
          <a:custGeom>
            <a:avLst/>
            <a:gdLst/>
            <a:ahLst/>
            <a:cxnLst/>
            <a:rect r="r" b="b" t="t" l="l"/>
            <a:pathLst>
              <a:path h="2057400" w="1694549">
                <a:moveTo>
                  <a:pt x="0" y="0"/>
                </a:moveTo>
                <a:lnTo>
                  <a:pt x="1694550" y="0"/>
                </a:lnTo>
                <a:lnTo>
                  <a:pt x="169455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10734599">
            <a:off x="9556016" y="-452802"/>
            <a:ext cx="2483292" cy="1324222"/>
          </a:xfrm>
          <a:custGeom>
            <a:avLst/>
            <a:gdLst/>
            <a:ahLst/>
            <a:cxnLst/>
            <a:rect r="r" b="b" t="t" l="l"/>
            <a:pathLst>
              <a:path h="1324222" w="2483292">
                <a:moveTo>
                  <a:pt x="0" y="0"/>
                </a:moveTo>
                <a:lnTo>
                  <a:pt x="2483293" y="0"/>
                </a:lnTo>
                <a:lnTo>
                  <a:pt x="2483293" y="1324223"/>
                </a:lnTo>
                <a:lnTo>
                  <a:pt x="0" y="132422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3694423" y="-2436222"/>
            <a:ext cx="2277223" cy="2833649"/>
          </a:xfrm>
          <a:custGeom>
            <a:avLst/>
            <a:gdLst/>
            <a:ahLst/>
            <a:cxnLst/>
            <a:rect r="r" b="b" t="t" l="l"/>
            <a:pathLst>
              <a:path h="2833649" w="2277223">
                <a:moveTo>
                  <a:pt x="0" y="0"/>
                </a:moveTo>
                <a:lnTo>
                  <a:pt x="2277223" y="0"/>
                </a:lnTo>
                <a:lnTo>
                  <a:pt x="2277223" y="2833649"/>
                </a:lnTo>
                <a:lnTo>
                  <a:pt x="0" y="283364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0393908" y="9531439"/>
            <a:ext cx="2277223" cy="2833649"/>
          </a:xfrm>
          <a:custGeom>
            <a:avLst/>
            <a:gdLst/>
            <a:ahLst/>
            <a:cxnLst/>
            <a:rect r="r" b="b" t="t" l="l"/>
            <a:pathLst>
              <a:path h="2833649" w="2277223">
                <a:moveTo>
                  <a:pt x="0" y="0"/>
                </a:moveTo>
                <a:lnTo>
                  <a:pt x="2277223" y="0"/>
                </a:lnTo>
                <a:lnTo>
                  <a:pt x="2277223" y="2833649"/>
                </a:lnTo>
                <a:lnTo>
                  <a:pt x="0" y="2833649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4305006" y="4119985"/>
            <a:ext cx="9677989" cy="19030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9"/>
              </a:lnSpc>
            </a:pPr>
            <a:r>
              <a:rPr lang="en-US" sz="2529">
                <a:solidFill>
                  <a:srgbClr val="5A3831"/>
                </a:solidFill>
                <a:latin typeface="Grand Cru M"/>
                <a:ea typeface="Grand Cru M"/>
                <a:cs typeface="Grand Cru M"/>
                <a:sym typeface="Grand Cru M"/>
              </a:rPr>
              <a:t>Real-time paneer quality monitoring in dairy production.</a:t>
            </a:r>
          </a:p>
          <a:p>
            <a:pPr algn="ctr">
              <a:lnSpc>
                <a:spcPts val="2529"/>
              </a:lnSpc>
            </a:pPr>
          </a:p>
          <a:p>
            <a:pPr algn="ctr">
              <a:lnSpc>
                <a:spcPts val="2529"/>
              </a:lnSpc>
            </a:pPr>
            <a:r>
              <a:rPr lang="en-US" sz="2529">
                <a:solidFill>
                  <a:srgbClr val="5A3831"/>
                </a:solidFill>
                <a:latin typeface="Grand Cru M"/>
                <a:ea typeface="Grand Cru M"/>
                <a:cs typeface="Grand Cru M"/>
                <a:sym typeface="Grand Cru M"/>
              </a:rPr>
              <a:t>I</a:t>
            </a:r>
            <a:r>
              <a:rPr lang="en-US" sz="2529">
                <a:solidFill>
                  <a:srgbClr val="5A3831"/>
                </a:solidFill>
                <a:latin typeface="Grand Cru M"/>
                <a:ea typeface="Grand Cru M"/>
                <a:cs typeface="Grand Cru M"/>
                <a:sym typeface="Grand Cru M"/>
              </a:rPr>
              <a:t>ntegration with IoT sensors for smart food safety systems.</a:t>
            </a:r>
          </a:p>
          <a:p>
            <a:pPr algn="ctr">
              <a:lnSpc>
                <a:spcPts val="2529"/>
              </a:lnSpc>
            </a:pPr>
          </a:p>
          <a:p>
            <a:pPr algn="ctr">
              <a:lnSpc>
                <a:spcPts val="2529"/>
              </a:lnSpc>
            </a:pPr>
            <a:r>
              <a:rPr lang="en-US" sz="2529">
                <a:solidFill>
                  <a:srgbClr val="5A3831"/>
                </a:solidFill>
                <a:latin typeface="Grand Cru M"/>
                <a:ea typeface="Grand Cru M"/>
                <a:cs typeface="Grand Cru M"/>
                <a:sym typeface="Grand Cru M"/>
              </a:rPr>
              <a:t>Expansion to other dairy products and imaging modalities.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438177" y="1816321"/>
            <a:ext cx="13411646" cy="961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70"/>
              </a:lnSpc>
            </a:pPr>
            <a:r>
              <a:rPr lang="en-US" sz="6700">
                <a:solidFill>
                  <a:srgbClr val="5A3831"/>
                </a:solidFill>
                <a:latin typeface="Grand Cru M"/>
                <a:ea typeface="Grand Cru M"/>
                <a:cs typeface="Grand Cru M"/>
                <a:sym typeface="Grand Cru M"/>
              </a:rPr>
              <a:t>Future Scope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12051679" y="7194576"/>
            <a:ext cx="2662614" cy="1767310"/>
          </a:xfrm>
          <a:custGeom>
            <a:avLst/>
            <a:gdLst/>
            <a:ahLst/>
            <a:cxnLst/>
            <a:rect r="r" b="b" t="t" l="l"/>
            <a:pathLst>
              <a:path h="1767310" w="2662614">
                <a:moveTo>
                  <a:pt x="0" y="0"/>
                </a:moveTo>
                <a:lnTo>
                  <a:pt x="2662614" y="0"/>
                </a:lnTo>
                <a:lnTo>
                  <a:pt x="2662614" y="1767310"/>
                </a:lnTo>
                <a:lnTo>
                  <a:pt x="0" y="1767310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true" flipV="false" rot="0">
            <a:off x="4023618" y="7318401"/>
            <a:ext cx="2662614" cy="1767310"/>
          </a:xfrm>
          <a:custGeom>
            <a:avLst/>
            <a:gdLst/>
            <a:ahLst/>
            <a:cxnLst/>
            <a:rect r="r" b="b" t="t" l="l"/>
            <a:pathLst>
              <a:path h="1767310" w="2662614">
                <a:moveTo>
                  <a:pt x="2662614" y="0"/>
                </a:moveTo>
                <a:lnTo>
                  <a:pt x="0" y="0"/>
                </a:lnTo>
                <a:lnTo>
                  <a:pt x="0" y="1767310"/>
                </a:lnTo>
                <a:lnTo>
                  <a:pt x="2662614" y="1767310"/>
                </a:lnTo>
                <a:lnTo>
                  <a:pt x="2662614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EB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655863">
            <a:off x="-2718108" y="7914948"/>
            <a:ext cx="6863334" cy="5881426"/>
          </a:xfrm>
          <a:custGeom>
            <a:avLst/>
            <a:gdLst/>
            <a:ahLst/>
            <a:cxnLst/>
            <a:rect r="r" b="b" t="t" l="l"/>
            <a:pathLst>
              <a:path h="5881426" w="6863334">
                <a:moveTo>
                  <a:pt x="6863335" y="0"/>
                </a:moveTo>
                <a:lnTo>
                  <a:pt x="0" y="0"/>
                </a:lnTo>
                <a:lnTo>
                  <a:pt x="0" y="5881427"/>
                </a:lnTo>
                <a:lnTo>
                  <a:pt x="6863335" y="5881427"/>
                </a:lnTo>
                <a:lnTo>
                  <a:pt x="6863335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277970">
            <a:off x="14614314" y="8038309"/>
            <a:ext cx="5289973" cy="5109779"/>
          </a:xfrm>
          <a:custGeom>
            <a:avLst/>
            <a:gdLst/>
            <a:ahLst/>
            <a:cxnLst/>
            <a:rect r="r" b="b" t="t" l="l"/>
            <a:pathLst>
              <a:path h="5109779" w="5289973">
                <a:moveTo>
                  <a:pt x="0" y="0"/>
                </a:moveTo>
                <a:lnTo>
                  <a:pt x="5289972" y="0"/>
                </a:lnTo>
                <a:lnTo>
                  <a:pt x="5289972" y="5109779"/>
                </a:lnTo>
                <a:lnTo>
                  <a:pt x="0" y="5109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9767822" y="9456441"/>
            <a:ext cx="4844329" cy="4114800"/>
          </a:xfrm>
          <a:custGeom>
            <a:avLst/>
            <a:gdLst/>
            <a:ahLst/>
            <a:cxnLst/>
            <a:rect r="r" b="b" t="t" l="l"/>
            <a:pathLst>
              <a:path h="4114800" w="4844329">
                <a:moveTo>
                  <a:pt x="4844329" y="0"/>
                </a:moveTo>
                <a:lnTo>
                  <a:pt x="0" y="0"/>
                </a:lnTo>
                <a:lnTo>
                  <a:pt x="0" y="4114800"/>
                </a:lnTo>
                <a:lnTo>
                  <a:pt x="4844329" y="4114800"/>
                </a:lnTo>
                <a:lnTo>
                  <a:pt x="4844329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4023618" y="9456441"/>
            <a:ext cx="6729198" cy="4114800"/>
          </a:xfrm>
          <a:custGeom>
            <a:avLst/>
            <a:gdLst/>
            <a:ahLst/>
            <a:cxnLst/>
            <a:rect r="r" b="b" t="t" l="l"/>
            <a:pathLst>
              <a:path h="4114800" w="6729198">
                <a:moveTo>
                  <a:pt x="0" y="4114800"/>
                </a:moveTo>
                <a:lnTo>
                  <a:pt x="6729198" y="4114800"/>
                </a:lnTo>
                <a:lnTo>
                  <a:pt x="6729198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81425" y="9258300"/>
            <a:ext cx="1694549" cy="2057400"/>
          </a:xfrm>
          <a:custGeom>
            <a:avLst/>
            <a:gdLst/>
            <a:ahLst/>
            <a:cxnLst/>
            <a:rect r="r" b="b" t="t" l="l"/>
            <a:pathLst>
              <a:path h="2057400" w="1694549">
                <a:moveTo>
                  <a:pt x="0" y="0"/>
                </a:moveTo>
                <a:lnTo>
                  <a:pt x="1694550" y="0"/>
                </a:lnTo>
                <a:lnTo>
                  <a:pt x="169455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146571" y="9531439"/>
            <a:ext cx="2483292" cy="1324222"/>
          </a:xfrm>
          <a:custGeom>
            <a:avLst/>
            <a:gdLst/>
            <a:ahLst/>
            <a:cxnLst/>
            <a:rect r="r" b="b" t="t" l="l"/>
            <a:pathLst>
              <a:path h="1324222" w="2483292">
                <a:moveTo>
                  <a:pt x="0" y="0"/>
                </a:moveTo>
                <a:lnTo>
                  <a:pt x="2483292" y="0"/>
                </a:lnTo>
                <a:lnTo>
                  <a:pt x="2483292" y="1324223"/>
                </a:lnTo>
                <a:lnTo>
                  <a:pt x="0" y="132422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-10209537">
            <a:off x="14026850" y="-3520368"/>
            <a:ext cx="6863334" cy="5881426"/>
          </a:xfrm>
          <a:custGeom>
            <a:avLst/>
            <a:gdLst/>
            <a:ahLst/>
            <a:cxnLst/>
            <a:rect r="r" b="b" t="t" l="l"/>
            <a:pathLst>
              <a:path h="5881426" w="6863334">
                <a:moveTo>
                  <a:pt x="6863334" y="0"/>
                </a:moveTo>
                <a:lnTo>
                  <a:pt x="0" y="0"/>
                </a:lnTo>
                <a:lnTo>
                  <a:pt x="0" y="5881427"/>
                </a:lnTo>
                <a:lnTo>
                  <a:pt x="6863334" y="5881427"/>
                </a:lnTo>
                <a:lnTo>
                  <a:pt x="686333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5587429">
            <a:off x="-1724223" y="-2557377"/>
            <a:ext cx="5289973" cy="5109779"/>
          </a:xfrm>
          <a:custGeom>
            <a:avLst/>
            <a:gdLst/>
            <a:ahLst/>
            <a:cxnLst/>
            <a:rect r="r" b="b" t="t" l="l"/>
            <a:pathLst>
              <a:path h="5109779" w="5289973">
                <a:moveTo>
                  <a:pt x="0" y="0"/>
                </a:moveTo>
                <a:lnTo>
                  <a:pt x="5289972" y="0"/>
                </a:lnTo>
                <a:lnTo>
                  <a:pt x="5289972" y="5109779"/>
                </a:lnTo>
                <a:lnTo>
                  <a:pt x="0" y="5109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10734599">
            <a:off x="3549481" y="-3076798"/>
            <a:ext cx="4844329" cy="4114800"/>
          </a:xfrm>
          <a:custGeom>
            <a:avLst/>
            <a:gdLst/>
            <a:ahLst/>
            <a:cxnLst/>
            <a:rect r="r" b="b" t="t" l="l"/>
            <a:pathLst>
              <a:path h="4114800" w="4844329">
                <a:moveTo>
                  <a:pt x="4844329" y="0"/>
                </a:moveTo>
                <a:lnTo>
                  <a:pt x="0" y="0"/>
                </a:lnTo>
                <a:lnTo>
                  <a:pt x="0" y="4114800"/>
                </a:lnTo>
                <a:lnTo>
                  <a:pt x="4844329" y="4114800"/>
                </a:lnTo>
                <a:lnTo>
                  <a:pt x="4844329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true" rot="10734599">
            <a:off x="7407947" y="-3168142"/>
            <a:ext cx="6729198" cy="4114800"/>
          </a:xfrm>
          <a:custGeom>
            <a:avLst/>
            <a:gdLst/>
            <a:ahLst/>
            <a:cxnLst/>
            <a:rect r="r" b="b" t="t" l="l"/>
            <a:pathLst>
              <a:path h="4114800" w="6729198">
                <a:moveTo>
                  <a:pt x="0" y="4114800"/>
                </a:moveTo>
                <a:lnTo>
                  <a:pt x="6729199" y="4114800"/>
                </a:lnTo>
                <a:lnTo>
                  <a:pt x="6729199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10734599">
            <a:off x="16306976" y="-1033801"/>
            <a:ext cx="1694549" cy="2057400"/>
          </a:xfrm>
          <a:custGeom>
            <a:avLst/>
            <a:gdLst/>
            <a:ahLst/>
            <a:cxnLst/>
            <a:rect r="r" b="b" t="t" l="l"/>
            <a:pathLst>
              <a:path h="2057400" w="1694549">
                <a:moveTo>
                  <a:pt x="0" y="0"/>
                </a:moveTo>
                <a:lnTo>
                  <a:pt x="1694550" y="0"/>
                </a:lnTo>
                <a:lnTo>
                  <a:pt x="169455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10734599">
            <a:off x="9556016" y="-452802"/>
            <a:ext cx="2483292" cy="1324222"/>
          </a:xfrm>
          <a:custGeom>
            <a:avLst/>
            <a:gdLst/>
            <a:ahLst/>
            <a:cxnLst/>
            <a:rect r="r" b="b" t="t" l="l"/>
            <a:pathLst>
              <a:path h="1324222" w="2483292">
                <a:moveTo>
                  <a:pt x="0" y="0"/>
                </a:moveTo>
                <a:lnTo>
                  <a:pt x="2483293" y="0"/>
                </a:lnTo>
                <a:lnTo>
                  <a:pt x="2483293" y="1324223"/>
                </a:lnTo>
                <a:lnTo>
                  <a:pt x="0" y="132422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3694423" y="-2436222"/>
            <a:ext cx="2277223" cy="2833649"/>
          </a:xfrm>
          <a:custGeom>
            <a:avLst/>
            <a:gdLst/>
            <a:ahLst/>
            <a:cxnLst/>
            <a:rect r="r" b="b" t="t" l="l"/>
            <a:pathLst>
              <a:path h="2833649" w="2277223">
                <a:moveTo>
                  <a:pt x="0" y="0"/>
                </a:moveTo>
                <a:lnTo>
                  <a:pt x="2277223" y="0"/>
                </a:lnTo>
                <a:lnTo>
                  <a:pt x="2277223" y="2833649"/>
                </a:lnTo>
                <a:lnTo>
                  <a:pt x="0" y="283364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0393908" y="9531439"/>
            <a:ext cx="2277223" cy="2833649"/>
          </a:xfrm>
          <a:custGeom>
            <a:avLst/>
            <a:gdLst/>
            <a:ahLst/>
            <a:cxnLst/>
            <a:rect r="r" b="b" t="t" l="l"/>
            <a:pathLst>
              <a:path h="2833649" w="2277223">
                <a:moveTo>
                  <a:pt x="0" y="0"/>
                </a:moveTo>
                <a:lnTo>
                  <a:pt x="2277223" y="0"/>
                </a:lnTo>
                <a:lnTo>
                  <a:pt x="2277223" y="2833649"/>
                </a:lnTo>
                <a:lnTo>
                  <a:pt x="0" y="2833649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4741983" y="3834771"/>
            <a:ext cx="8804035" cy="3127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689"/>
              </a:lnSpc>
            </a:pPr>
            <a:r>
              <a:rPr lang="en-US" sz="13916" b="true">
                <a:solidFill>
                  <a:srgbClr val="5A3831"/>
                </a:solidFill>
                <a:latin typeface="Grand Cru M Bold"/>
                <a:ea typeface="Grand Cru M Bold"/>
                <a:cs typeface="Grand Cru M Bold"/>
                <a:sym typeface="Grand Cru M Bold"/>
              </a:rPr>
              <a:t>Thank</a:t>
            </a:r>
          </a:p>
          <a:p>
            <a:pPr algn="ctr">
              <a:lnSpc>
                <a:spcPts val="11689"/>
              </a:lnSpc>
            </a:pPr>
            <a:r>
              <a:rPr lang="en-US" sz="13916" b="true">
                <a:solidFill>
                  <a:srgbClr val="5A3831"/>
                </a:solidFill>
                <a:latin typeface="Grand Cru M Bold"/>
                <a:ea typeface="Grand Cru M Bold"/>
                <a:cs typeface="Grand Cru M Bold"/>
                <a:sym typeface="Grand Cru M Bold"/>
              </a:rPr>
              <a:t>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DAG4kx7W77Y</dc:identifier>
  <dcterms:modified xsi:type="dcterms:W3CDTF">2011-08-01T06:04:30Z</dcterms:modified>
  <cp:revision>1</cp:revision>
  <dc:title>dip final ppt</dc:title>
</cp:coreProperties>
</file>